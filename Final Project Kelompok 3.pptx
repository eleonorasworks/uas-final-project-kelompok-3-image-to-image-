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x="18288000" cy="10287000"/>
  <p:notesSz cx="6858000" cy="9144000"/>
  <p:embeddedFontLst>
    <p:embeddedFont>
      <p:font typeface="Mokoto" charset="1" panose="00000000000000000000"/>
      <p:regular r:id="rId18"/>
    </p:embeddedFont>
    <p:embeddedFont>
      <p:font typeface="Montserrat" charset="1" panose="00000500000000000000"/>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5.png" Type="http://schemas.openxmlformats.org/officeDocument/2006/relationships/image"/><Relationship Id="rId7" Target="../media/image6.png" Type="http://schemas.openxmlformats.org/officeDocument/2006/relationships/image"/><Relationship Id="rId8" Target="../media/image7.png" Type="http://schemas.openxmlformats.org/officeDocument/2006/relationships/image"/><Relationship Id="rId9" Target="../media/image8.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png" Type="http://schemas.openxmlformats.org/officeDocument/2006/relationships/image"/><Relationship Id="rId4" Target="../media/image8.png" Type="http://schemas.openxmlformats.org/officeDocument/2006/relationships/image"/><Relationship Id="rId5" Target="../media/image9.png" Type="http://schemas.openxmlformats.org/officeDocument/2006/relationships/image"/><Relationship Id="rId6" Target="../media/image11.png" Type="http://schemas.openxmlformats.org/officeDocument/2006/relationships/image"/><Relationship Id="rId7" Target="../media/image12.png" Type="http://schemas.openxmlformats.org/officeDocument/2006/relationships/image"/><Relationship Id="rId8" Target="../media/image13.png" Type="http://schemas.openxmlformats.org/officeDocument/2006/relationships/image"/><Relationship Id="rId9" Target="../media/image14.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png" Type="http://schemas.openxmlformats.org/officeDocument/2006/relationships/image"/><Relationship Id="rId11" Target="../media/image12.png" Type="http://schemas.openxmlformats.org/officeDocument/2006/relationships/image"/><Relationship Id="rId12" Target="../media/image13.png" Type="http://schemas.openxmlformats.org/officeDocument/2006/relationships/image"/><Relationship Id="rId13" Target="../media/image14.png" Type="http://schemas.openxmlformats.org/officeDocument/2006/relationships/image"/><Relationship Id="rId2" Target="../media/image15.png" Type="http://schemas.openxmlformats.org/officeDocument/2006/relationships/image"/><Relationship Id="rId3" Target="../media/image16.png" Type="http://schemas.openxmlformats.org/officeDocument/2006/relationships/image"/><Relationship Id="rId4" Target="../media/image17.png" Type="http://schemas.openxmlformats.org/officeDocument/2006/relationships/image"/><Relationship Id="rId5" Target="../media/image18.png" Type="http://schemas.openxmlformats.org/officeDocument/2006/relationships/image"/><Relationship Id="rId6" Target="../media/image6.png" Type="http://schemas.openxmlformats.org/officeDocument/2006/relationships/image"/><Relationship Id="rId7" Target="../media/image7.png" Type="http://schemas.openxmlformats.org/officeDocument/2006/relationships/image"/><Relationship Id="rId8" Target="../media/image8.png" Type="http://schemas.openxmlformats.org/officeDocument/2006/relationships/image"/><Relationship Id="rId9" Target="../media/image9.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png" Type="http://schemas.openxmlformats.org/officeDocument/2006/relationships/image"/><Relationship Id="rId4" Target="../media/image8.png" Type="http://schemas.openxmlformats.org/officeDocument/2006/relationships/image"/><Relationship Id="rId5" Target="../media/image9.png" Type="http://schemas.openxmlformats.org/officeDocument/2006/relationships/image"/><Relationship Id="rId6" Target="../media/image11.png" Type="http://schemas.openxmlformats.org/officeDocument/2006/relationships/image"/><Relationship Id="rId7" Target="../media/image12.png" Type="http://schemas.openxmlformats.org/officeDocument/2006/relationships/image"/><Relationship Id="rId8" Target="../media/image13.png" Type="http://schemas.openxmlformats.org/officeDocument/2006/relationships/image"/><Relationship Id="rId9" Target="../media/image14.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2.png" Type="http://schemas.openxmlformats.org/officeDocument/2006/relationships/image"/><Relationship Id="rId11" Target="../media/image13.png" Type="http://schemas.openxmlformats.org/officeDocument/2006/relationships/image"/><Relationship Id="rId12" Target="../media/image14.png" Type="http://schemas.openxmlformats.org/officeDocument/2006/relationships/image"/><Relationship Id="rId2" Target="../media/image15.png" Type="http://schemas.openxmlformats.org/officeDocument/2006/relationships/image"/><Relationship Id="rId3" Target="../media/image16.png" Type="http://schemas.openxmlformats.org/officeDocument/2006/relationships/image"/><Relationship Id="rId4" Target="../media/image17.png" Type="http://schemas.openxmlformats.org/officeDocument/2006/relationships/image"/><Relationship Id="rId5" Target="../media/image18.png" Type="http://schemas.openxmlformats.org/officeDocument/2006/relationships/image"/><Relationship Id="rId6" Target="../media/image7.png" Type="http://schemas.openxmlformats.org/officeDocument/2006/relationships/image"/><Relationship Id="rId7" Target="../media/image8.png" Type="http://schemas.openxmlformats.org/officeDocument/2006/relationships/image"/><Relationship Id="rId8" Target="../media/image9.png" Type="http://schemas.openxmlformats.org/officeDocument/2006/relationships/image"/><Relationship Id="rId9" Target="../media/image11.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png" Type="http://schemas.openxmlformats.org/officeDocument/2006/relationships/image"/><Relationship Id="rId4" Target="../media/image8.png" Type="http://schemas.openxmlformats.org/officeDocument/2006/relationships/image"/><Relationship Id="rId5" Target="../media/image9.png" Type="http://schemas.openxmlformats.org/officeDocument/2006/relationships/image"/><Relationship Id="rId6" Target="../media/image11.png" Type="http://schemas.openxmlformats.org/officeDocument/2006/relationships/image"/><Relationship Id="rId7" Target="../media/image12.png" Type="http://schemas.openxmlformats.org/officeDocument/2006/relationships/image"/><Relationship Id="rId8" Target="../media/image13.png" Type="http://schemas.openxmlformats.org/officeDocument/2006/relationships/image"/><Relationship Id="rId9" Target="../media/image14.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 Id="rId3" Target="../media/image17.png" Type="http://schemas.openxmlformats.org/officeDocument/2006/relationships/image"/><Relationship Id="rId4" Target="../media/image6.png" Type="http://schemas.openxmlformats.org/officeDocument/2006/relationships/image"/><Relationship Id="rId5" Target="../media/image7.png" Type="http://schemas.openxmlformats.org/officeDocument/2006/relationships/image"/><Relationship Id="rId6" Target="../media/image8.png" Type="http://schemas.openxmlformats.org/officeDocument/2006/relationships/image"/><Relationship Id="rId7" Target="../media/image12.png" Type="http://schemas.openxmlformats.org/officeDocument/2006/relationships/image"/><Relationship Id="rId8" Target="../media/image13.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png" Type="http://schemas.openxmlformats.org/officeDocument/2006/relationships/image"/><Relationship Id="rId4" Target="../media/image8.png" Type="http://schemas.openxmlformats.org/officeDocument/2006/relationships/image"/><Relationship Id="rId5" Target="../media/image9.png" Type="http://schemas.openxmlformats.org/officeDocument/2006/relationships/image"/><Relationship Id="rId6" Target="../media/image11.png" Type="http://schemas.openxmlformats.org/officeDocument/2006/relationships/image"/><Relationship Id="rId7" Target="../media/image12.png" Type="http://schemas.openxmlformats.org/officeDocument/2006/relationships/image"/><Relationship Id="rId8" Target="../media/image13.png" Type="http://schemas.openxmlformats.org/officeDocument/2006/relationships/image"/><Relationship Id="rId9" Target="../media/image14.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png" Type="http://schemas.openxmlformats.org/officeDocument/2006/relationships/image"/><Relationship Id="rId4" Target="../media/image8.png" Type="http://schemas.openxmlformats.org/officeDocument/2006/relationships/image"/><Relationship Id="rId5" Target="../media/image9.png" Type="http://schemas.openxmlformats.org/officeDocument/2006/relationships/image"/><Relationship Id="rId6" Target="../media/image11.png" Type="http://schemas.openxmlformats.org/officeDocument/2006/relationships/image"/><Relationship Id="rId7" Target="../media/image12.png" Type="http://schemas.openxmlformats.org/officeDocument/2006/relationships/image"/><Relationship Id="rId8" Target="../media/image13.png" Type="http://schemas.openxmlformats.org/officeDocument/2006/relationships/image"/><Relationship Id="rId9" Target="../media/image14.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png" Type="http://schemas.openxmlformats.org/officeDocument/2006/relationships/image"/><Relationship Id="rId4" Target="../media/image8.png" Type="http://schemas.openxmlformats.org/officeDocument/2006/relationships/image"/><Relationship Id="rId5" Target="../media/image9.png" Type="http://schemas.openxmlformats.org/officeDocument/2006/relationships/image"/><Relationship Id="rId6" Target="../media/image11.png" Type="http://schemas.openxmlformats.org/officeDocument/2006/relationships/image"/><Relationship Id="rId7" Target="../media/image12.png" Type="http://schemas.openxmlformats.org/officeDocument/2006/relationships/image"/><Relationship Id="rId8" Target="../media/image13.png" Type="http://schemas.openxmlformats.org/officeDocument/2006/relationships/image"/><Relationship Id="rId9" Target="../media/image14.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png" Type="http://schemas.openxmlformats.org/officeDocument/2006/relationships/image"/><Relationship Id="rId11" Target="../media/image12.png" Type="http://schemas.openxmlformats.org/officeDocument/2006/relationships/image"/><Relationship Id="rId12" Target="../media/image13.png" Type="http://schemas.openxmlformats.org/officeDocument/2006/relationships/image"/><Relationship Id="rId13" Target="../media/image14.png" Type="http://schemas.openxmlformats.org/officeDocument/2006/relationships/image"/><Relationship Id="rId2" Target="../media/image15.png" Type="http://schemas.openxmlformats.org/officeDocument/2006/relationships/image"/><Relationship Id="rId3" Target="../media/image16.png" Type="http://schemas.openxmlformats.org/officeDocument/2006/relationships/image"/><Relationship Id="rId4" Target="../media/image17.png" Type="http://schemas.openxmlformats.org/officeDocument/2006/relationships/image"/><Relationship Id="rId5" Target="../media/image18.png" Type="http://schemas.openxmlformats.org/officeDocument/2006/relationships/image"/><Relationship Id="rId6" Target="../media/image6.png" Type="http://schemas.openxmlformats.org/officeDocument/2006/relationships/image"/><Relationship Id="rId7" Target="../media/image7.png" Type="http://schemas.openxmlformats.org/officeDocument/2006/relationships/image"/><Relationship Id="rId8" Target="../media/image8.png" Type="http://schemas.openxmlformats.org/officeDocument/2006/relationships/image"/><Relationship Id="rId9" Target="../media/image9.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5.png" Type="http://schemas.openxmlformats.org/officeDocument/2006/relationships/image"/><Relationship Id="rId7" Target="../media/image6.png" Type="http://schemas.openxmlformats.org/officeDocument/2006/relationships/image"/><Relationship Id="rId8" Target="../media/image7.png" Type="http://schemas.openxmlformats.org/officeDocument/2006/relationships/image"/><Relationship Id="rId9" Target="../media/image8.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110623"/>
        </a:solidFill>
      </p:bgPr>
    </p:bg>
    <p:spTree>
      <p:nvGrpSpPr>
        <p:cNvPr id="1" name=""/>
        <p:cNvGrpSpPr/>
        <p:nvPr/>
      </p:nvGrpSpPr>
      <p:grpSpPr>
        <a:xfrm>
          <a:off x="0" y="0"/>
          <a:ext cx="0" cy="0"/>
          <a:chOff x="0" y="0"/>
          <a:chExt cx="0" cy="0"/>
        </a:xfrm>
      </p:grpSpPr>
      <p:sp>
        <p:nvSpPr>
          <p:cNvPr name="Freeform 2" id="2"/>
          <p:cNvSpPr/>
          <p:nvPr/>
        </p:nvSpPr>
        <p:spPr>
          <a:xfrm flipH="false" flipV="false" rot="0">
            <a:off x="0" y="268522"/>
            <a:ext cx="18288000" cy="10018478"/>
          </a:xfrm>
          <a:custGeom>
            <a:avLst/>
            <a:gdLst/>
            <a:ahLst/>
            <a:cxnLst/>
            <a:rect r="r" b="b" t="t" l="l"/>
            <a:pathLst>
              <a:path h="10018478" w="18288000">
                <a:moveTo>
                  <a:pt x="0" y="0"/>
                </a:moveTo>
                <a:lnTo>
                  <a:pt x="18288000" y="0"/>
                </a:lnTo>
                <a:lnTo>
                  <a:pt x="18288000" y="10018478"/>
                </a:lnTo>
                <a:lnTo>
                  <a:pt x="0" y="10018478"/>
                </a:lnTo>
                <a:lnTo>
                  <a:pt x="0" y="0"/>
                </a:lnTo>
                <a:close/>
              </a:path>
            </a:pathLst>
          </a:custGeom>
          <a:blipFill>
            <a:blip r:embed="rId2">
              <a:alphaModFix amt="25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5400000">
            <a:off x="14416431" y="6906219"/>
            <a:ext cx="4467792" cy="4249987"/>
          </a:xfrm>
          <a:custGeom>
            <a:avLst/>
            <a:gdLst/>
            <a:ahLst/>
            <a:cxnLst/>
            <a:rect r="r" b="b" t="t" l="l"/>
            <a:pathLst>
              <a:path h="4249987" w="4467792">
                <a:moveTo>
                  <a:pt x="0" y="0"/>
                </a:moveTo>
                <a:lnTo>
                  <a:pt x="4467792" y="0"/>
                </a:lnTo>
                <a:lnTo>
                  <a:pt x="4467792" y="4249987"/>
                </a:lnTo>
                <a:lnTo>
                  <a:pt x="0" y="4249987"/>
                </a:lnTo>
                <a:lnTo>
                  <a:pt x="0" y="0"/>
                </a:lnTo>
                <a:close/>
              </a:path>
            </a:pathLst>
          </a:custGeom>
          <a:blipFill>
            <a:blip r:embed="rId4"/>
            <a:stretch>
              <a:fillRect l="0" t="0" r="0" b="0"/>
            </a:stretch>
          </a:blipFill>
        </p:spPr>
      </p:sp>
      <p:sp>
        <p:nvSpPr>
          <p:cNvPr name="Freeform 4" id="4"/>
          <p:cNvSpPr/>
          <p:nvPr/>
        </p:nvSpPr>
        <p:spPr>
          <a:xfrm flipH="false" flipV="false" rot="-6134898">
            <a:off x="14209243" y="-2045303"/>
            <a:ext cx="4535136" cy="5060124"/>
          </a:xfrm>
          <a:custGeom>
            <a:avLst/>
            <a:gdLst/>
            <a:ahLst/>
            <a:cxnLst/>
            <a:rect r="r" b="b" t="t" l="l"/>
            <a:pathLst>
              <a:path h="5060124" w="4535136">
                <a:moveTo>
                  <a:pt x="0" y="0"/>
                </a:moveTo>
                <a:lnTo>
                  <a:pt x="4535136" y="0"/>
                </a:lnTo>
                <a:lnTo>
                  <a:pt x="4535136" y="5060124"/>
                </a:lnTo>
                <a:lnTo>
                  <a:pt x="0" y="5060124"/>
                </a:lnTo>
                <a:lnTo>
                  <a:pt x="0" y="0"/>
                </a:lnTo>
                <a:close/>
              </a:path>
            </a:pathLst>
          </a:custGeom>
          <a:blipFill>
            <a:blip r:embed="rId5"/>
            <a:stretch>
              <a:fillRect l="0" t="0" r="0" b="0"/>
            </a:stretch>
          </a:blipFill>
        </p:spPr>
      </p:sp>
      <p:sp>
        <p:nvSpPr>
          <p:cNvPr name="Freeform 5" id="5"/>
          <p:cNvSpPr/>
          <p:nvPr/>
        </p:nvSpPr>
        <p:spPr>
          <a:xfrm flipH="false" flipV="false" rot="1079263">
            <a:off x="116092" y="-857316"/>
            <a:ext cx="4033686" cy="4179986"/>
          </a:xfrm>
          <a:custGeom>
            <a:avLst/>
            <a:gdLst/>
            <a:ahLst/>
            <a:cxnLst/>
            <a:rect r="r" b="b" t="t" l="l"/>
            <a:pathLst>
              <a:path h="4179986" w="4033686">
                <a:moveTo>
                  <a:pt x="0" y="0"/>
                </a:moveTo>
                <a:lnTo>
                  <a:pt x="4033686" y="0"/>
                </a:lnTo>
                <a:lnTo>
                  <a:pt x="4033686" y="4179985"/>
                </a:lnTo>
                <a:lnTo>
                  <a:pt x="0" y="4179985"/>
                </a:lnTo>
                <a:lnTo>
                  <a:pt x="0" y="0"/>
                </a:lnTo>
                <a:close/>
              </a:path>
            </a:pathLst>
          </a:custGeom>
          <a:blipFill>
            <a:blip r:embed="rId6"/>
            <a:stretch>
              <a:fillRect l="0" t="0" r="0" b="0"/>
            </a:stretch>
          </a:blipFill>
        </p:spPr>
      </p:sp>
      <p:sp>
        <p:nvSpPr>
          <p:cNvPr name="Freeform 6" id="6"/>
          <p:cNvSpPr/>
          <p:nvPr/>
        </p:nvSpPr>
        <p:spPr>
          <a:xfrm flipH="false" flipV="false" rot="1392916">
            <a:off x="2036320" y="7488407"/>
            <a:ext cx="1158181" cy="1295867"/>
          </a:xfrm>
          <a:custGeom>
            <a:avLst/>
            <a:gdLst/>
            <a:ahLst/>
            <a:cxnLst/>
            <a:rect r="r" b="b" t="t" l="l"/>
            <a:pathLst>
              <a:path h="1295867" w="1158181">
                <a:moveTo>
                  <a:pt x="0" y="0"/>
                </a:moveTo>
                <a:lnTo>
                  <a:pt x="1158181" y="0"/>
                </a:lnTo>
                <a:lnTo>
                  <a:pt x="1158181" y="1295867"/>
                </a:lnTo>
                <a:lnTo>
                  <a:pt x="0" y="1295867"/>
                </a:lnTo>
                <a:lnTo>
                  <a:pt x="0" y="0"/>
                </a:lnTo>
                <a:close/>
              </a:path>
            </a:pathLst>
          </a:custGeom>
          <a:blipFill>
            <a:blip r:embed="rId7"/>
            <a:stretch>
              <a:fillRect l="0" t="0" r="0" b="0"/>
            </a:stretch>
          </a:blipFill>
        </p:spPr>
      </p:sp>
      <p:sp>
        <p:nvSpPr>
          <p:cNvPr name="Freeform 7" id="7"/>
          <p:cNvSpPr/>
          <p:nvPr/>
        </p:nvSpPr>
        <p:spPr>
          <a:xfrm flipH="false" flipV="false" rot="-1600701">
            <a:off x="14525334" y="2202848"/>
            <a:ext cx="1207461" cy="1277736"/>
          </a:xfrm>
          <a:custGeom>
            <a:avLst/>
            <a:gdLst/>
            <a:ahLst/>
            <a:cxnLst/>
            <a:rect r="r" b="b" t="t" l="l"/>
            <a:pathLst>
              <a:path h="1277736" w="1207461">
                <a:moveTo>
                  <a:pt x="0" y="0"/>
                </a:moveTo>
                <a:lnTo>
                  <a:pt x="1207460" y="0"/>
                </a:lnTo>
                <a:lnTo>
                  <a:pt x="1207460" y="1277736"/>
                </a:lnTo>
                <a:lnTo>
                  <a:pt x="0" y="1277736"/>
                </a:lnTo>
                <a:lnTo>
                  <a:pt x="0" y="0"/>
                </a:lnTo>
                <a:close/>
              </a:path>
            </a:pathLst>
          </a:custGeom>
          <a:blipFill>
            <a:blip r:embed="rId8"/>
            <a:stretch>
              <a:fillRect l="0" t="0" r="0" b="0"/>
            </a:stretch>
          </a:blipFill>
        </p:spPr>
      </p:sp>
      <p:sp>
        <p:nvSpPr>
          <p:cNvPr name="Freeform 8" id="8"/>
          <p:cNvSpPr/>
          <p:nvPr/>
        </p:nvSpPr>
        <p:spPr>
          <a:xfrm flipH="false" flipV="false" rot="1558470">
            <a:off x="15141810" y="7644720"/>
            <a:ext cx="1129301" cy="1199788"/>
          </a:xfrm>
          <a:custGeom>
            <a:avLst/>
            <a:gdLst/>
            <a:ahLst/>
            <a:cxnLst/>
            <a:rect r="r" b="b" t="t" l="l"/>
            <a:pathLst>
              <a:path h="1199788" w="1129301">
                <a:moveTo>
                  <a:pt x="0" y="0"/>
                </a:moveTo>
                <a:lnTo>
                  <a:pt x="1129301" y="0"/>
                </a:lnTo>
                <a:lnTo>
                  <a:pt x="1129301" y="1199788"/>
                </a:lnTo>
                <a:lnTo>
                  <a:pt x="0" y="1199788"/>
                </a:lnTo>
                <a:lnTo>
                  <a:pt x="0" y="0"/>
                </a:lnTo>
                <a:close/>
              </a:path>
            </a:pathLst>
          </a:custGeom>
          <a:blipFill>
            <a:blip r:embed="rId9"/>
            <a:stretch>
              <a:fillRect l="0" t="0" r="0" b="0"/>
            </a:stretch>
          </a:blipFill>
        </p:spPr>
      </p:sp>
      <p:sp>
        <p:nvSpPr>
          <p:cNvPr name="Freeform 9" id="9"/>
          <p:cNvSpPr/>
          <p:nvPr/>
        </p:nvSpPr>
        <p:spPr>
          <a:xfrm flipH="false" flipV="false" rot="0">
            <a:off x="3502069" y="2096917"/>
            <a:ext cx="1112030" cy="1140544"/>
          </a:xfrm>
          <a:custGeom>
            <a:avLst/>
            <a:gdLst/>
            <a:ahLst/>
            <a:cxnLst/>
            <a:rect r="r" b="b" t="t" l="l"/>
            <a:pathLst>
              <a:path h="1140544" w="1112030">
                <a:moveTo>
                  <a:pt x="0" y="0"/>
                </a:moveTo>
                <a:lnTo>
                  <a:pt x="1112030" y="0"/>
                </a:lnTo>
                <a:lnTo>
                  <a:pt x="1112030" y="1140544"/>
                </a:lnTo>
                <a:lnTo>
                  <a:pt x="0" y="1140544"/>
                </a:lnTo>
                <a:lnTo>
                  <a:pt x="0" y="0"/>
                </a:lnTo>
                <a:close/>
              </a:path>
            </a:pathLst>
          </a:custGeom>
          <a:blipFill>
            <a:blip r:embed="rId10"/>
            <a:stretch>
              <a:fillRect l="0" t="0" r="0" b="0"/>
            </a:stretch>
          </a:blipFill>
        </p:spPr>
      </p:sp>
      <p:sp>
        <p:nvSpPr>
          <p:cNvPr name="Freeform 10" id="10"/>
          <p:cNvSpPr/>
          <p:nvPr/>
        </p:nvSpPr>
        <p:spPr>
          <a:xfrm flipH="false" flipV="false" rot="5400000">
            <a:off x="-1570908" y="7239148"/>
            <a:ext cx="4846752" cy="3653240"/>
          </a:xfrm>
          <a:custGeom>
            <a:avLst/>
            <a:gdLst/>
            <a:ahLst/>
            <a:cxnLst/>
            <a:rect r="r" b="b" t="t" l="l"/>
            <a:pathLst>
              <a:path h="3653240" w="4846752">
                <a:moveTo>
                  <a:pt x="0" y="0"/>
                </a:moveTo>
                <a:lnTo>
                  <a:pt x="4846753" y="0"/>
                </a:lnTo>
                <a:lnTo>
                  <a:pt x="4846753" y="3653240"/>
                </a:lnTo>
                <a:lnTo>
                  <a:pt x="0" y="3653240"/>
                </a:lnTo>
                <a:lnTo>
                  <a:pt x="0" y="0"/>
                </a:lnTo>
                <a:close/>
              </a:path>
            </a:pathLst>
          </a:custGeom>
          <a:blipFill>
            <a:blip r:embed="rId11"/>
            <a:stretch>
              <a:fillRect l="0" t="0" r="0" b="0"/>
            </a:stretch>
          </a:blipFill>
        </p:spPr>
      </p:sp>
      <p:sp>
        <p:nvSpPr>
          <p:cNvPr name="TextBox 11" id="11"/>
          <p:cNvSpPr txBox="true"/>
          <p:nvPr/>
        </p:nvSpPr>
        <p:spPr>
          <a:xfrm rot="0">
            <a:off x="2615410" y="2638614"/>
            <a:ext cx="13057180" cy="4673986"/>
          </a:xfrm>
          <a:prstGeom prst="rect">
            <a:avLst/>
          </a:prstGeom>
        </p:spPr>
        <p:txBody>
          <a:bodyPr anchor="t" rtlCol="false" tIns="0" lIns="0" bIns="0" rIns="0">
            <a:spAutoFit/>
          </a:bodyPr>
          <a:lstStyle/>
          <a:p>
            <a:pPr algn="ctr">
              <a:lnSpc>
                <a:spcPts val="6170"/>
              </a:lnSpc>
            </a:pPr>
            <a:r>
              <a:rPr lang="en-US" sz="4943">
                <a:solidFill>
                  <a:srgbClr val="FFFFFF"/>
                </a:solidFill>
                <a:latin typeface="Mokoto"/>
                <a:ea typeface="Mokoto"/>
                <a:cs typeface="Mokoto"/>
                <a:sym typeface="Mokoto"/>
              </a:rPr>
              <a:t>IMAGE-TO-IMAGE T</a:t>
            </a:r>
            <a:r>
              <a:rPr lang="en-US" sz="4943">
                <a:solidFill>
                  <a:srgbClr val="FFFFFF"/>
                </a:solidFill>
                <a:latin typeface="Mokoto"/>
                <a:ea typeface="Mokoto"/>
                <a:cs typeface="Mokoto"/>
                <a:sym typeface="Mokoto"/>
              </a:rPr>
              <a:t>RANSLATION: TRANSFORMASI FOTO PEMANDANGAN MENJADI LUKISAN GAYA MONET MENGGUNAKAN CYCLEGAN</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110623"/>
        </a:solidFill>
      </p:bgPr>
    </p:bg>
    <p:spTree>
      <p:nvGrpSpPr>
        <p:cNvPr id="1" name=""/>
        <p:cNvGrpSpPr/>
        <p:nvPr/>
      </p:nvGrpSpPr>
      <p:grpSpPr>
        <a:xfrm>
          <a:off x="0" y="0"/>
          <a:ext cx="0" cy="0"/>
          <a:chOff x="0" y="0"/>
          <a:chExt cx="0" cy="0"/>
        </a:xfrm>
      </p:grpSpPr>
      <p:sp>
        <p:nvSpPr>
          <p:cNvPr name="Freeform 2" id="2"/>
          <p:cNvSpPr/>
          <p:nvPr/>
        </p:nvSpPr>
        <p:spPr>
          <a:xfrm flipH="false" flipV="false" rot="1392916">
            <a:off x="1472812" y="8447106"/>
            <a:ext cx="1158181" cy="1295867"/>
          </a:xfrm>
          <a:custGeom>
            <a:avLst/>
            <a:gdLst/>
            <a:ahLst/>
            <a:cxnLst/>
            <a:rect r="r" b="b" t="t" l="l"/>
            <a:pathLst>
              <a:path h="1295867" w="1158181">
                <a:moveTo>
                  <a:pt x="0" y="0"/>
                </a:moveTo>
                <a:lnTo>
                  <a:pt x="1158181" y="0"/>
                </a:lnTo>
                <a:lnTo>
                  <a:pt x="1158181" y="1295866"/>
                </a:lnTo>
                <a:lnTo>
                  <a:pt x="0" y="1295866"/>
                </a:lnTo>
                <a:lnTo>
                  <a:pt x="0" y="0"/>
                </a:lnTo>
                <a:close/>
              </a:path>
            </a:pathLst>
          </a:custGeom>
          <a:blipFill>
            <a:blip r:embed="rId2"/>
            <a:stretch>
              <a:fillRect l="0" t="0" r="0" b="0"/>
            </a:stretch>
          </a:blipFill>
        </p:spPr>
      </p:sp>
      <p:sp>
        <p:nvSpPr>
          <p:cNvPr name="Freeform 3" id="3"/>
          <p:cNvSpPr/>
          <p:nvPr/>
        </p:nvSpPr>
        <p:spPr>
          <a:xfrm flipH="false" flipV="false" rot="-1600701">
            <a:off x="15885219" y="1766260"/>
            <a:ext cx="1207461" cy="1277736"/>
          </a:xfrm>
          <a:custGeom>
            <a:avLst/>
            <a:gdLst/>
            <a:ahLst/>
            <a:cxnLst/>
            <a:rect r="r" b="b" t="t" l="l"/>
            <a:pathLst>
              <a:path h="1277736" w="1207461">
                <a:moveTo>
                  <a:pt x="0" y="0"/>
                </a:moveTo>
                <a:lnTo>
                  <a:pt x="1207460" y="0"/>
                </a:lnTo>
                <a:lnTo>
                  <a:pt x="1207460" y="1277736"/>
                </a:lnTo>
                <a:lnTo>
                  <a:pt x="0" y="1277736"/>
                </a:lnTo>
                <a:lnTo>
                  <a:pt x="0" y="0"/>
                </a:lnTo>
                <a:close/>
              </a:path>
            </a:pathLst>
          </a:custGeom>
          <a:blipFill>
            <a:blip r:embed="rId3"/>
            <a:stretch>
              <a:fillRect l="0" t="0" r="0" b="0"/>
            </a:stretch>
          </a:blipFill>
        </p:spPr>
      </p:sp>
      <p:sp>
        <p:nvSpPr>
          <p:cNvPr name="Freeform 4" id="4"/>
          <p:cNvSpPr/>
          <p:nvPr/>
        </p:nvSpPr>
        <p:spPr>
          <a:xfrm flipH="false" flipV="false" rot="1558470">
            <a:off x="15684667" y="8726581"/>
            <a:ext cx="1129301" cy="1199788"/>
          </a:xfrm>
          <a:custGeom>
            <a:avLst/>
            <a:gdLst/>
            <a:ahLst/>
            <a:cxnLst/>
            <a:rect r="r" b="b" t="t" l="l"/>
            <a:pathLst>
              <a:path h="1199788" w="1129301">
                <a:moveTo>
                  <a:pt x="0" y="0"/>
                </a:moveTo>
                <a:lnTo>
                  <a:pt x="1129301" y="0"/>
                </a:lnTo>
                <a:lnTo>
                  <a:pt x="1129301" y="1199789"/>
                </a:lnTo>
                <a:lnTo>
                  <a:pt x="0" y="1199789"/>
                </a:lnTo>
                <a:lnTo>
                  <a:pt x="0" y="0"/>
                </a:lnTo>
                <a:close/>
              </a:path>
            </a:pathLst>
          </a:custGeom>
          <a:blipFill>
            <a:blip r:embed="rId4"/>
            <a:stretch>
              <a:fillRect l="0" t="0" r="0" b="0"/>
            </a:stretch>
          </a:blipFill>
        </p:spPr>
      </p:sp>
      <p:sp>
        <p:nvSpPr>
          <p:cNvPr name="Freeform 5" id="5"/>
          <p:cNvSpPr/>
          <p:nvPr/>
        </p:nvSpPr>
        <p:spPr>
          <a:xfrm flipH="false" flipV="false" rot="0">
            <a:off x="825154" y="1264584"/>
            <a:ext cx="1112030" cy="1140544"/>
          </a:xfrm>
          <a:custGeom>
            <a:avLst/>
            <a:gdLst/>
            <a:ahLst/>
            <a:cxnLst/>
            <a:rect r="r" b="b" t="t" l="l"/>
            <a:pathLst>
              <a:path h="1140544" w="1112030">
                <a:moveTo>
                  <a:pt x="0" y="0"/>
                </a:moveTo>
                <a:lnTo>
                  <a:pt x="1112030" y="0"/>
                </a:lnTo>
                <a:lnTo>
                  <a:pt x="1112030" y="1140544"/>
                </a:lnTo>
                <a:lnTo>
                  <a:pt x="0" y="1140544"/>
                </a:lnTo>
                <a:lnTo>
                  <a:pt x="0" y="0"/>
                </a:lnTo>
                <a:close/>
              </a:path>
            </a:pathLst>
          </a:custGeom>
          <a:blipFill>
            <a:blip r:embed="rId5"/>
            <a:stretch>
              <a:fillRect l="0" t="0" r="0" b="0"/>
            </a:stretch>
          </a:blipFill>
        </p:spPr>
      </p:sp>
      <p:sp>
        <p:nvSpPr>
          <p:cNvPr name="Freeform 6" id="6"/>
          <p:cNvSpPr/>
          <p:nvPr/>
        </p:nvSpPr>
        <p:spPr>
          <a:xfrm flipH="false" flipV="false" rot="-941928">
            <a:off x="3141835" y="448253"/>
            <a:ext cx="835498" cy="1602074"/>
          </a:xfrm>
          <a:custGeom>
            <a:avLst/>
            <a:gdLst/>
            <a:ahLst/>
            <a:cxnLst/>
            <a:rect r="r" b="b" t="t" l="l"/>
            <a:pathLst>
              <a:path h="1602074" w="835498">
                <a:moveTo>
                  <a:pt x="0" y="0"/>
                </a:moveTo>
                <a:lnTo>
                  <a:pt x="835498" y="0"/>
                </a:lnTo>
                <a:lnTo>
                  <a:pt x="835498" y="1602074"/>
                </a:lnTo>
                <a:lnTo>
                  <a:pt x="0" y="1602074"/>
                </a:lnTo>
                <a:lnTo>
                  <a:pt x="0" y="0"/>
                </a:lnTo>
                <a:close/>
              </a:path>
            </a:pathLst>
          </a:custGeom>
          <a:blipFill>
            <a:blip r:embed="rId6"/>
            <a:stretch>
              <a:fillRect l="0" t="0" r="0" b="0"/>
            </a:stretch>
          </a:blipFill>
        </p:spPr>
      </p:sp>
      <p:sp>
        <p:nvSpPr>
          <p:cNvPr name="Freeform 7" id="7"/>
          <p:cNvSpPr/>
          <p:nvPr/>
        </p:nvSpPr>
        <p:spPr>
          <a:xfrm flipH="false" flipV="false" rot="0">
            <a:off x="589560" y="6596168"/>
            <a:ext cx="878280" cy="827217"/>
          </a:xfrm>
          <a:custGeom>
            <a:avLst/>
            <a:gdLst/>
            <a:ahLst/>
            <a:cxnLst/>
            <a:rect r="r" b="b" t="t" l="l"/>
            <a:pathLst>
              <a:path h="827217" w="878280">
                <a:moveTo>
                  <a:pt x="0" y="0"/>
                </a:moveTo>
                <a:lnTo>
                  <a:pt x="878280" y="0"/>
                </a:lnTo>
                <a:lnTo>
                  <a:pt x="878280" y="827217"/>
                </a:lnTo>
                <a:lnTo>
                  <a:pt x="0" y="827217"/>
                </a:lnTo>
                <a:lnTo>
                  <a:pt x="0" y="0"/>
                </a:lnTo>
                <a:close/>
              </a:path>
            </a:pathLst>
          </a:custGeom>
          <a:blipFill>
            <a:blip r:embed="rId7"/>
            <a:stretch>
              <a:fillRect l="0" t="0" r="0" b="0"/>
            </a:stretch>
          </a:blipFill>
        </p:spPr>
      </p:sp>
      <p:sp>
        <p:nvSpPr>
          <p:cNvPr name="Freeform 8" id="8"/>
          <p:cNvSpPr/>
          <p:nvPr/>
        </p:nvSpPr>
        <p:spPr>
          <a:xfrm flipH="false" flipV="false" rot="0">
            <a:off x="16488949" y="6792823"/>
            <a:ext cx="1061438" cy="1261123"/>
          </a:xfrm>
          <a:custGeom>
            <a:avLst/>
            <a:gdLst/>
            <a:ahLst/>
            <a:cxnLst/>
            <a:rect r="r" b="b" t="t" l="l"/>
            <a:pathLst>
              <a:path h="1261123" w="1061438">
                <a:moveTo>
                  <a:pt x="0" y="0"/>
                </a:moveTo>
                <a:lnTo>
                  <a:pt x="1061438" y="0"/>
                </a:lnTo>
                <a:lnTo>
                  <a:pt x="1061438" y="1261124"/>
                </a:lnTo>
                <a:lnTo>
                  <a:pt x="0" y="1261124"/>
                </a:lnTo>
                <a:lnTo>
                  <a:pt x="0" y="0"/>
                </a:lnTo>
                <a:close/>
              </a:path>
            </a:pathLst>
          </a:custGeom>
          <a:blipFill>
            <a:blip r:embed="rId8"/>
            <a:stretch>
              <a:fillRect l="0" t="0" r="0" b="0"/>
            </a:stretch>
          </a:blipFill>
        </p:spPr>
      </p:sp>
      <p:sp>
        <p:nvSpPr>
          <p:cNvPr name="Freeform 9" id="9"/>
          <p:cNvSpPr/>
          <p:nvPr/>
        </p:nvSpPr>
        <p:spPr>
          <a:xfrm flipH="false" flipV="false" rot="0">
            <a:off x="14551972" y="727072"/>
            <a:ext cx="850955" cy="836137"/>
          </a:xfrm>
          <a:custGeom>
            <a:avLst/>
            <a:gdLst/>
            <a:ahLst/>
            <a:cxnLst/>
            <a:rect r="r" b="b" t="t" l="l"/>
            <a:pathLst>
              <a:path h="836137" w="850955">
                <a:moveTo>
                  <a:pt x="0" y="0"/>
                </a:moveTo>
                <a:lnTo>
                  <a:pt x="850955" y="0"/>
                </a:lnTo>
                <a:lnTo>
                  <a:pt x="850955" y="836137"/>
                </a:lnTo>
                <a:lnTo>
                  <a:pt x="0" y="836137"/>
                </a:lnTo>
                <a:lnTo>
                  <a:pt x="0" y="0"/>
                </a:lnTo>
                <a:close/>
              </a:path>
            </a:pathLst>
          </a:custGeom>
          <a:blipFill>
            <a:blip r:embed="rId9"/>
            <a:stretch>
              <a:fillRect l="0" t="0" r="0" b="0"/>
            </a:stretch>
          </a:blipFill>
        </p:spPr>
      </p:sp>
      <p:sp>
        <p:nvSpPr>
          <p:cNvPr name="TextBox 10" id="10"/>
          <p:cNvSpPr txBox="true"/>
          <p:nvPr/>
        </p:nvSpPr>
        <p:spPr>
          <a:xfrm rot="0">
            <a:off x="11202987" y="4054253"/>
            <a:ext cx="3774462" cy="1263148"/>
          </a:xfrm>
          <a:prstGeom prst="rect">
            <a:avLst/>
          </a:prstGeom>
        </p:spPr>
        <p:txBody>
          <a:bodyPr anchor="t" rtlCol="false" tIns="0" lIns="0" bIns="0" rIns="0">
            <a:spAutoFit/>
          </a:bodyPr>
          <a:lstStyle/>
          <a:p>
            <a:pPr algn="ctr">
              <a:lnSpc>
                <a:spcPts val="3359"/>
              </a:lnSpc>
              <a:spcBef>
                <a:spcPct val="0"/>
              </a:spcBef>
            </a:pPr>
            <a:r>
              <a:rPr lang="en-US" sz="2399">
                <a:solidFill>
                  <a:srgbClr val="FFFFFF"/>
                </a:solidFill>
                <a:latin typeface="Mokoto"/>
                <a:ea typeface="Mokoto"/>
                <a:cs typeface="Mokoto"/>
                <a:sym typeface="Mokoto"/>
              </a:rPr>
              <a:t>zahra jemima zahabiya rahmadhani</a:t>
            </a:r>
          </a:p>
        </p:txBody>
      </p:sp>
      <p:sp>
        <p:nvSpPr>
          <p:cNvPr name="TextBox 11" id="11"/>
          <p:cNvSpPr txBox="true"/>
          <p:nvPr/>
        </p:nvSpPr>
        <p:spPr>
          <a:xfrm rot="0">
            <a:off x="10706255" y="3373322"/>
            <a:ext cx="3702710" cy="430685"/>
          </a:xfrm>
          <a:prstGeom prst="rect">
            <a:avLst/>
          </a:prstGeom>
        </p:spPr>
        <p:txBody>
          <a:bodyPr anchor="t" rtlCol="false" tIns="0" lIns="0" bIns="0" rIns="0">
            <a:spAutoFit/>
          </a:bodyPr>
          <a:lstStyle/>
          <a:p>
            <a:pPr algn="ctr">
              <a:lnSpc>
                <a:spcPts val="3562"/>
              </a:lnSpc>
              <a:spcBef>
                <a:spcPct val="0"/>
              </a:spcBef>
            </a:pPr>
            <a:r>
              <a:rPr lang="en-US" sz="2544">
                <a:solidFill>
                  <a:srgbClr val="FFFFFF"/>
                </a:solidFill>
                <a:latin typeface="Mokoto"/>
                <a:ea typeface="Mokoto"/>
                <a:cs typeface="Mokoto"/>
                <a:sym typeface="Mokoto"/>
              </a:rPr>
              <a:t>23.11.5386</a:t>
            </a:r>
          </a:p>
        </p:txBody>
      </p:sp>
      <p:sp>
        <p:nvSpPr>
          <p:cNvPr name="TextBox 12" id="12"/>
          <p:cNvSpPr txBox="true"/>
          <p:nvPr/>
        </p:nvSpPr>
        <p:spPr>
          <a:xfrm rot="0">
            <a:off x="4876284" y="1437183"/>
            <a:ext cx="8535432" cy="683126"/>
          </a:xfrm>
          <a:prstGeom prst="rect">
            <a:avLst/>
          </a:prstGeom>
        </p:spPr>
        <p:txBody>
          <a:bodyPr anchor="t" rtlCol="false" tIns="0" lIns="0" bIns="0" rIns="0">
            <a:spAutoFit/>
          </a:bodyPr>
          <a:lstStyle/>
          <a:p>
            <a:pPr algn="ctr">
              <a:lnSpc>
                <a:spcPts val="5391"/>
              </a:lnSpc>
            </a:pPr>
            <a:r>
              <a:rPr lang="en-US" sz="4319">
                <a:solidFill>
                  <a:srgbClr val="FFFFFF"/>
                </a:solidFill>
                <a:latin typeface="Mokoto"/>
                <a:ea typeface="Mokoto"/>
                <a:cs typeface="Mokoto"/>
                <a:sym typeface="Mokoto"/>
              </a:rPr>
              <a:t>NAMA KELOMPOK</a:t>
            </a:r>
          </a:p>
        </p:txBody>
      </p:sp>
      <p:sp>
        <p:nvSpPr>
          <p:cNvPr name="TextBox 13" id="13"/>
          <p:cNvSpPr txBox="true"/>
          <p:nvPr/>
        </p:nvSpPr>
        <p:spPr>
          <a:xfrm rot="0">
            <a:off x="4056317" y="4054253"/>
            <a:ext cx="2709245" cy="1263148"/>
          </a:xfrm>
          <a:prstGeom prst="rect">
            <a:avLst/>
          </a:prstGeom>
        </p:spPr>
        <p:txBody>
          <a:bodyPr anchor="t" rtlCol="false" tIns="0" lIns="0" bIns="0" rIns="0">
            <a:spAutoFit/>
          </a:bodyPr>
          <a:lstStyle/>
          <a:p>
            <a:pPr algn="ctr">
              <a:lnSpc>
                <a:spcPts val="3359"/>
              </a:lnSpc>
              <a:spcBef>
                <a:spcPct val="0"/>
              </a:spcBef>
            </a:pPr>
            <a:r>
              <a:rPr lang="en-US" sz="2399">
                <a:solidFill>
                  <a:srgbClr val="FFFFFF"/>
                </a:solidFill>
                <a:latin typeface="Mokoto"/>
                <a:ea typeface="Mokoto"/>
                <a:cs typeface="Mokoto"/>
                <a:sym typeface="Mokoto"/>
              </a:rPr>
              <a:t>eleonora Adeo Victoria</a:t>
            </a:r>
          </a:p>
        </p:txBody>
      </p:sp>
      <p:sp>
        <p:nvSpPr>
          <p:cNvPr name="TextBox 14" id="14"/>
          <p:cNvSpPr txBox="true"/>
          <p:nvPr/>
        </p:nvSpPr>
        <p:spPr>
          <a:xfrm rot="0">
            <a:off x="3559584" y="3373322"/>
            <a:ext cx="3702710" cy="430685"/>
          </a:xfrm>
          <a:prstGeom prst="rect">
            <a:avLst/>
          </a:prstGeom>
        </p:spPr>
        <p:txBody>
          <a:bodyPr anchor="t" rtlCol="false" tIns="0" lIns="0" bIns="0" rIns="0">
            <a:spAutoFit/>
          </a:bodyPr>
          <a:lstStyle/>
          <a:p>
            <a:pPr algn="ctr">
              <a:lnSpc>
                <a:spcPts val="3562"/>
              </a:lnSpc>
              <a:spcBef>
                <a:spcPct val="0"/>
              </a:spcBef>
            </a:pPr>
            <a:r>
              <a:rPr lang="en-US" sz="2544">
                <a:solidFill>
                  <a:srgbClr val="FFFFFF"/>
                </a:solidFill>
                <a:latin typeface="Mokoto"/>
                <a:ea typeface="Mokoto"/>
                <a:cs typeface="Mokoto"/>
                <a:sym typeface="Mokoto"/>
              </a:rPr>
              <a:t>23.11.5378</a:t>
            </a:r>
          </a:p>
        </p:txBody>
      </p:sp>
      <p:sp>
        <p:nvSpPr>
          <p:cNvPr name="TextBox 15" id="15"/>
          <p:cNvSpPr txBox="true"/>
          <p:nvPr/>
        </p:nvSpPr>
        <p:spPr>
          <a:xfrm rot="0">
            <a:off x="4304010" y="7108464"/>
            <a:ext cx="2709245" cy="1682292"/>
          </a:xfrm>
          <a:prstGeom prst="rect">
            <a:avLst/>
          </a:prstGeom>
        </p:spPr>
        <p:txBody>
          <a:bodyPr anchor="t" rtlCol="false" tIns="0" lIns="0" bIns="0" rIns="0">
            <a:spAutoFit/>
          </a:bodyPr>
          <a:lstStyle/>
          <a:p>
            <a:pPr algn="ctr">
              <a:lnSpc>
                <a:spcPts val="3359"/>
              </a:lnSpc>
              <a:spcBef>
                <a:spcPct val="0"/>
              </a:spcBef>
            </a:pPr>
            <a:r>
              <a:rPr lang="en-US" sz="2399">
                <a:solidFill>
                  <a:srgbClr val="FFFFFF"/>
                </a:solidFill>
                <a:latin typeface="Mokoto"/>
                <a:ea typeface="Mokoto"/>
                <a:cs typeface="Mokoto"/>
                <a:sym typeface="Mokoto"/>
              </a:rPr>
              <a:t>Abdillah Dliyaa Ulhaq Aksyonov</a:t>
            </a:r>
          </a:p>
        </p:txBody>
      </p:sp>
      <p:sp>
        <p:nvSpPr>
          <p:cNvPr name="TextBox 16" id="16"/>
          <p:cNvSpPr txBox="true"/>
          <p:nvPr/>
        </p:nvSpPr>
        <p:spPr>
          <a:xfrm rot="0">
            <a:off x="3807277" y="6427533"/>
            <a:ext cx="3702710" cy="430685"/>
          </a:xfrm>
          <a:prstGeom prst="rect">
            <a:avLst/>
          </a:prstGeom>
        </p:spPr>
        <p:txBody>
          <a:bodyPr anchor="t" rtlCol="false" tIns="0" lIns="0" bIns="0" rIns="0">
            <a:spAutoFit/>
          </a:bodyPr>
          <a:lstStyle/>
          <a:p>
            <a:pPr algn="ctr">
              <a:lnSpc>
                <a:spcPts val="3562"/>
              </a:lnSpc>
              <a:spcBef>
                <a:spcPct val="0"/>
              </a:spcBef>
            </a:pPr>
            <a:r>
              <a:rPr lang="en-US" sz="2544">
                <a:solidFill>
                  <a:srgbClr val="FFFFFF"/>
                </a:solidFill>
                <a:latin typeface="Mokoto"/>
                <a:ea typeface="Mokoto"/>
                <a:cs typeface="Mokoto"/>
                <a:sym typeface="Mokoto"/>
              </a:rPr>
              <a:t>2303010113</a:t>
            </a:r>
          </a:p>
        </p:txBody>
      </p:sp>
      <p:sp>
        <p:nvSpPr>
          <p:cNvPr name="TextBox 17" id="17"/>
          <p:cNvSpPr txBox="true"/>
          <p:nvPr/>
        </p:nvSpPr>
        <p:spPr>
          <a:xfrm rot="0">
            <a:off x="9351632" y="7217876"/>
            <a:ext cx="3205978" cy="1472993"/>
          </a:xfrm>
          <a:prstGeom prst="rect">
            <a:avLst/>
          </a:prstGeom>
        </p:spPr>
        <p:txBody>
          <a:bodyPr anchor="t" rtlCol="false" tIns="0" lIns="0" bIns="0" rIns="0">
            <a:spAutoFit/>
          </a:bodyPr>
          <a:lstStyle/>
          <a:p>
            <a:pPr algn="ctr">
              <a:lnSpc>
                <a:spcPts val="3976"/>
              </a:lnSpc>
              <a:spcBef>
                <a:spcPct val="0"/>
              </a:spcBef>
            </a:pPr>
            <a:r>
              <a:rPr lang="en-US" sz="2840">
                <a:solidFill>
                  <a:srgbClr val="FFFFFF"/>
                </a:solidFill>
                <a:latin typeface="Mokoto"/>
                <a:ea typeface="Mokoto"/>
                <a:cs typeface="Mokoto"/>
                <a:sym typeface="Mokoto"/>
              </a:rPr>
              <a:t>Moch Maky Miftahu Rohmat</a:t>
            </a:r>
          </a:p>
        </p:txBody>
      </p:sp>
      <p:sp>
        <p:nvSpPr>
          <p:cNvPr name="TextBox 18" id="18"/>
          <p:cNvSpPr txBox="true"/>
          <p:nvPr/>
        </p:nvSpPr>
        <p:spPr>
          <a:xfrm rot="0">
            <a:off x="8976837" y="6427533"/>
            <a:ext cx="3702710" cy="430685"/>
          </a:xfrm>
          <a:prstGeom prst="rect">
            <a:avLst/>
          </a:prstGeom>
        </p:spPr>
        <p:txBody>
          <a:bodyPr anchor="t" rtlCol="false" tIns="0" lIns="0" bIns="0" rIns="0">
            <a:spAutoFit/>
          </a:bodyPr>
          <a:lstStyle/>
          <a:p>
            <a:pPr algn="ctr">
              <a:lnSpc>
                <a:spcPts val="3562"/>
              </a:lnSpc>
              <a:spcBef>
                <a:spcPct val="0"/>
              </a:spcBef>
            </a:pPr>
            <a:r>
              <a:rPr lang="en-US" sz="2544">
                <a:solidFill>
                  <a:srgbClr val="FFFFFF"/>
                </a:solidFill>
                <a:latin typeface="Mokoto"/>
                <a:ea typeface="Mokoto"/>
                <a:cs typeface="Mokoto"/>
                <a:sym typeface="Mokoto"/>
              </a:rPr>
              <a:t>2303010116</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110623"/>
        </a:solidFill>
      </p:bgPr>
    </p:bg>
    <p:spTree>
      <p:nvGrpSpPr>
        <p:cNvPr id="1" name=""/>
        <p:cNvGrpSpPr/>
        <p:nvPr/>
      </p:nvGrpSpPr>
      <p:grpSpPr>
        <a:xfrm>
          <a:off x="0" y="0"/>
          <a:ext cx="0" cy="0"/>
          <a:chOff x="0" y="0"/>
          <a:chExt cx="0" cy="0"/>
        </a:xfrm>
      </p:grpSpPr>
      <p:sp>
        <p:nvSpPr>
          <p:cNvPr name="Freeform 2" id="2"/>
          <p:cNvSpPr/>
          <p:nvPr/>
        </p:nvSpPr>
        <p:spPr>
          <a:xfrm flipH="false" flipV="false" rot="0">
            <a:off x="-1056039" y="-1077267"/>
            <a:ext cx="4641250" cy="4211934"/>
          </a:xfrm>
          <a:custGeom>
            <a:avLst/>
            <a:gdLst/>
            <a:ahLst/>
            <a:cxnLst/>
            <a:rect r="r" b="b" t="t" l="l"/>
            <a:pathLst>
              <a:path h="4211934" w="4641250">
                <a:moveTo>
                  <a:pt x="0" y="0"/>
                </a:moveTo>
                <a:lnTo>
                  <a:pt x="4641250" y="0"/>
                </a:lnTo>
                <a:lnTo>
                  <a:pt x="4641250" y="4211934"/>
                </a:lnTo>
                <a:lnTo>
                  <a:pt x="0" y="4211934"/>
                </a:lnTo>
                <a:lnTo>
                  <a:pt x="0" y="0"/>
                </a:lnTo>
                <a:close/>
              </a:path>
            </a:pathLst>
          </a:custGeom>
          <a:blipFill>
            <a:blip r:embed="rId2"/>
            <a:stretch>
              <a:fillRect l="0" t="0" r="0" b="0"/>
            </a:stretch>
          </a:blipFill>
        </p:spPr>
      </p:sp>
      <p:sp>
        <p:nvSpPr>
          <p:cNvPr name="Freeform 3" id="3"/>
          <p:cNvSpPr/>
          <p:nvPr/>
        </p:nvSpPr>
        <p:spPr>
          <a:xfrm flipH="false" flipV="false" rot="0">
            <a:off x="12938146" y="4759829"/>
            <a:ext cx="7674102" cy="8229600"/>
          </a:xfrm>
          <a:custGeom>
            <a:avLst/>
            <a:gdLst/>
            <a:ahLst/>
            <a:cxnLst/>
            <a:rect r="r" b="b" t="t" l="l"/>
            <a:pathLst>
              <a:path h="8229600" w="7674102">
                <a:moveTo>
                  <a:pt x="0" y="0"/>
                </a:moveTo>
                <a:lnTo>
                  <a:pt x="7674102" y="0"/>
                </a:lnTo>
                <a:lnTo>
                  <a:pt x="7674102" y="8229600"/>
                </a:lnTo>
                <a:lnTo>
                  <a:pt x="0" y="8229600"/>
                </a:lnTo>
                <a:lnTo>
                  <a:pt x="0" y="0"/>
                </a:lnTo>
                <a:close/>
              </a:path>
            </a:pathLst>
          </a:custGeom>
          <a:blipFill>
            <a:blip r:embed="rId3"/>
            <a:stretch>
              <a:fillRect l="0" t="0" r="0" b="0"/>
            </a:stretch>
          </a:blipFill>
        </p:spPr>
      </p:sp>
      <p:sp>
        <p:nvSpPr>
          <p:cNvPr name="Freeform 4" id="4"/>
          <p:cNvSpPr/>
          <p:nvPr/>
        </p:nvSpPr>
        <p:spPr>
          <a:xfrm flipH="false" flipV="false" rot="-5314299">
            <a:off x="-2062633" y="6359657"/>
            <a:ext cx="6654437" cy="6446486"/>
          </a:xfrm>
          <a:custGeom>
            <a:avLst/>
            <a:gdLst/>
            <a:ahLst/>
            <a:cxnLst/>
            <a:rect r="r" b="b" t="t" l="l"/>
            <a:pathLst>
              <a:path h="6446486" w="6654437">
                <a:moveTo>
                  <a:pt x="0" y="0"/>
                </a:moveTo>
                <a:lnTo>
                  <a:pt x="6654437" y="0"/>
                </a:lnTo>
                <a:lnTo>
                  <a:pt x="6654437" y="6446485"/>
                </a:lnTo>
                <a:lnTo>
                  <a:pt x="0" y="6446485"/>
                </a:lnTo>
                <a:lnTo>
                  <a:pt x="0" y="0"/>
                </a:lnTo>
                <a:close/>
              </a:path>
            </a:pathLst>
          </a:custGeom>
          <a:blipFill>
            <a:blip r:embed="rId4"/>
            <a:stretch>
              <a:fillRect l="0" t="0" r="0" b="0"/>
            </a:stretch>
          </a:blipFill>
        </p:spPr>
      </p:sp>
      <p:sp>
        <p:nvSpPr>
          <p:cNvPr name="Freeform 5" id="5"/>
          <p:cNvSpPr/>
          <p:nvPr/>
        </p:nvSpPr>
        <p:spPr>
          <a:xfrm flipH="false" flipV="false" rot="122150">
            <a:off x="11134991" y="-4166473"/>
            <a:ext cx="7153009" cy="6178411"/>
          </a:xfrm>
          <a:custGeom>
            <a:avLst/>
            <a:gdLst/>
            <a:ahLst/>
            <a:cxnLst/>
            <a:rect r="r" b="b" t="t" l="l"/>
            <a:pathLst>
              <a:path h="6178411" w="7153009">
                <a:moveTo>
                  <a:pt x="0" y="0"/>
                </a:moveTo>
                <a:lnTo>
                  <a:pt x="7153009" y="0"/>
                </a:lnTo>
                <a:lnTo>
                  <a:pt x="7153009" y="6178411"/>
                </a:lnTo>
                <a:lnTo>
                  <a:pt x="0" y="6178411"/>
                </a:lnTo>
                <a:lnTo>
                  <a:pt x="0" y="0"/>
                </a:lnTo>
                <a:close/>
              </a:path>
            </a:pathLst>
          </a:custGeom>
          <a:blipFill>
            <a:blip r:embed="rId5"/>
            <a:stretch>
              <a:fillRect l="0" t="0" r="0" b="0"/>
            </a:stretch>
          </a:blipFill>
        </p:spPr>
      </p:sp>
      <p:sp>
        <p:nvSpPr>
          <p:cNvPr name="TextBox 6" id="6"/>
          <p:cNvSpPr txBox="true"/>
          <p:nvPr/>
        </p:nvSpPr>
        <p:spPr>
          <a:xfrm rot="0">
            <a:off x="2576592" y="3037179"/>
            <a:ext cx="12512487" cy="660241"/>
          </a:xfrm>
          <a:prstGeom prst="rect">
            <a:avLst/>
          </a:prstGeom>
        </p:spPr>
        <p:txBody>
          <a:bodyPr anchor="t" rtlCol="false" tIns="0" lIns="0" bIns="0" rIns="0">
            <a:spAutoFit/>
          </a:bodyPr>
          <a:lstStyle/>
          <a:p>
            <a:pPr algn="ctr">
              <a:lnSpc>
                <a:spcPts val="5241"/>
              </a:lnSpc>
            </a:pPr>
            <a:r>
              <a:rPr lang="en-US" sz="4200">
                <a:solidFill>
                  <a:srgbClr val="FFFFFF"/>
                </a:solidFill>
                <a:latin typeface="Mokoto"/>
                <a:ea typeface="Mokoto"/>
                <a:cs typeface="Mokoto"/>
                <a:sym typeface="Mokoto"/>
              </a:rPr>
              <a:t>LATAR BELAKANG</a:t>
            </a:r>
          </a:p>
        </p:txBody>
      </p:sp>
      <p:sp>
        <p:nvSpPr>
          <p:cNvPr name="TextBox 7" id="7"/>
          <p:cNvSpPr txBox="true"/>
          <p:nvPr/>
        </p:nvSpPr>
        <p:spPr>
          <a:xfrm rot="0">
            <a:off x="4568321" y="4180956"/>
            <a:ext cx="9089668" cy="3181085"/>
          </a:xfrm>
          <a:prstGeom prst="rect">
            <a:avLst/>
          </a:prstGeom>
        </p:spPr>
        <p:txBody>
          <a:bodyPr anchor="t" rtlCol="false" tIns="0" lIns="0" bIns="0" rIns="0">
            <a:spAutoFit/>
          </a:bodyPr>
          <a:lstStyle/>
          <a:p>
            <a:pPr algn="ctr">
              <a:lnSpc>
                <a:spcPts val="4200"/>
              </a:lnSpc>
            </a:pPr>
            <a:r>
              <a:rPr lang="en-US" sz="3000">
                <a:solidFill>
                  <a:srgbClr val="FFFFFF"/>
                </a:solidFill>
                <a:latin typeface="Montserrat"/>
                <a:ea typeface="Montserrat"/>
                <a:cs typeface="Montserrat"/>
                <a:sym typeface="Montserrat"/>
              </a:rPr>
              <a:t>Image-to-image translation digunakan untuk mengubah gambar dari satu domain ke domain lain.</a:t>
            </a:r>
          </a:p>
          <a:p>
            <a:pPr algn="ctr">
              <a:lnSpc>
                <a:spcPts val="4200"/>
              </a:lnSpc>
            </a:pPr>
            <a:r>
              <a:rPr lang="en-US" sz="3000">
                <a:solidFill>
                  <a:srgbClr val="FFFFFF"/>
                </a:solidFill>
                <a:latin typeface="Montserrat"/>
                <a:ea typeface="Montserrat"/>
                <a:cs typeface="Montserrat"/>
                <a:sym typeface="Montserrat"/>
              </a:rPr>
              <a:t> Pada kasus ini, foto pemandangan diubah menjadi lukisan gaya Claude Monet dengan tetap menjaga bentuk objek aslinya.</a:t>
            </a:r>
          </a:p>
        </p:txBody>
      </p:sp>
      <p:sp>
        <p:nvSpPr>
          <p:cNvPr name="Freeform 8" id="8"/>
          <p:cNvSpPr/>
          <p:nvPr/>
        </p:nvSpPr>
        <p:spPr>
          <a:xfrm flipH="false" flipV="false" rot="1392916">
            <a:off x="3771088" y="8221451"/>
            <a:ext cx="1032424" cy="1155160"/>
          </a:xfrm>
          <a:custGeom>
            <a:avLst/>
            <a:gdLst/>
            <a:ahLst/>
            <a:cxnLst/>
            <a:rect r="r" b="b" t="t" l="l"/>
            <a:pathLst>
              <a:path h="1155160" w="1032424">
                <a:moveTo>
                  <a:pt x="0" y="0"/>
                </a:moveTo>
                <a:lnTo>
                  <a:pt x="1032424" y="0"/>
                </a:lnTo>
                <a:lnTo>
                  <a:pt x="1032424" y="1155159"/>
                </a:lnTo>
                <a:lnTo>
                  <a:pt x="0" y="1155159"/>
                </a:lnTo>
                <a:lnTo>
                  <a:pt x="0" y="0"/>
                </a:lnTo>
                <a:close/>
              </a:path>
            </a:pathLst>
          </a:custGeom>
          <a:blipFill>
            <a:blip r:embed="rId6"/>
            <a:stretch>
              <a:fillRect l="0" t="0" r="0" b="0"/>
            </a:stretch>
          </a:blipFill>
        </p:spPr>
      </p:sp>
      <p:sp>
        <p:nvSpPr>
          <p:cNvPr name="Freeform 9" id="9"/>
          <p:cNvSpPr/>
          <p:nvPr/>
        </p:nvSpPr>
        <p:spPr>
          <a:xfrm flipH="false" flipV="false" rot="-1600701">
            <a:off x="16471885" y="2037906"/>
            <a:ext cx="1207461" cy="1277736"/>
          </a:xfrm>
          <a:custGeom>
            <a:avLst/>
            <a:gdLst/>
            <a:ahLst/>
            <a:cxnLst/>
            <a:rect r="r" b="b" t="t" l="l"/>
            <a:pathLst>
              <a:path h="1277736" w="1207461">
                <a:moveTo>
                  <a:pt x="0" y="0"/>
                </a:moveTo>
                <a:lnTo>
                  <a:pt x="1207460" y="0"/>
                </a:lnTo>
                <a:lnTo>
                  <a:pt x="1207460" y="1277737"/>
                </a:lnTo>
                <a:lnTo>
                  <a:pt x="0" y="1277737"/>
                </a:lnTo>
                <a:lnTo>
                  <a:pt x="0" y="0"/>
                </a:lnTo>
                <a:close/>
              </a:path>
            </a:pathLst>
          </a:custGeom>
          <a:blipFill>
            <a:blip r:embed="rId7"/>
            <a:stretch>
              <a:fillRect l="0" t="0" r="0" b="0"/>
            </a:stretch>
          </a:blipFill>
        </p:spPr>
      </p:sp>
      <p:sp>
        <p:nvSpPr>
          <p:cNvPr name="Freeform 10" id="10"/>
          <p:cNvSpPr/>
          <p:nvPr/>
        </p:nvSpPr>
        <p:spPr>
          <a:xfrm flipH="false" flipV="false" rot="1558470">
            <a:off x="12277033" y="8603576"/>
            <a:ext cx="797660" cy="847448"/>
          </a:xfrm>
          <a:custGeom>
            <a:avLst/>
            <a:gdLst/>
            <a:ahLst/>
            <a:cxnLst/>
            <a:rect r="r" b="b" t="t" l="l"/>
            <a:pathLst>
              <a:path h="847448" w="797660">
                <a:moveTo>
                  <a:pt x="0" y="0"/>
                </a:moveTo>
                <a:lnTo>
                  <a:pt x="797660" y="0"/>
                </a:lnTo>
                <a:lnTo>
                  <a:pt x="797660" y="847448"/>
                </a:lnTo>
                <a:lnTo>
                  <a:pt x="0" y="847448"/>
                </a:lnTo>
                <a:lnTo>
                  <a:pt x="0" y="0"/>
                </a:lnTo>
                <a:close/>
              </a:path>
            </a:pathLst>
          </a:custGeom>
          <a:blipFill>
            <a:blip r:embed="rId8"/>
            <a:stretch>
              <a:fillRect l="0" t="0" r="0" b="0"/>
            </a:stretch>
          </a:blipFill>
        </p:spPr>
      </p:sp>
      <p:sp>
        <p:nvSpPr>
          <p:cNvPr name="Freeform 11" id="11"/>
          <p:cNvSpPr/>
          <p:nvPr/>
        </p:nvSpPr>
        <p:spPr>
          <a:xfrm flipH="false" flipV="false" rot="0">
            <a:off x="1264586" y="2119992"/>
            <a:ext cx="922118" cy="945762"/>
          </a:xfrm>
          <a:custGeom>
            <a:avLst/>
            <a:gdLst/>
            <a:ahLst/>
            <a:cxnLst/>
            <a:rect r="r" b="b" t="t" l="l"/>
            <a:pathLst>
              <a:path h="945762" w="922118">
                <a:moveTo>
                  <a:pt x="0" y="0"/>
                </a:moveTo>
                <a:lnTo>
                  <a:pt x="922118" y="0"/>
                </a:lnTo>
                <a:lnTo>
                  <a:pt x="922118" y="945762"/>
                </a:lnTo>
                <a:lnTo>
                  <a:pt x="0" y="945762"/>
                </a:lnTo>
                <a:lnTo>
                  <a:pt x="0" y="0"/>
                </a:lnTo>
                <a:close/>
              </a:path>
            </a:pathLst>
          </a:custGeom>
          <a:blipFill>
            <a:blip r:embed="rId9"/>
            <a:stretch>
              <a:fillRect l="0" t="0" r="0" b="0"/>
            </a:stretch>
          </a:blipFill>
        </p:spPr>
      </p:sp>
      <p:sp>
        <p:nvSpPr>
          <p:cNvPr name="Freeform 12" id="12"/>
          <p:cNvSpPr/>
          <p:nvPr/>
        </p:nvSpPr>
        <p:spPr>
          <a:xfrm flipH="false" flipV="false" rot="-1494861">
            <a:off x="3786372" y="719900"/>
            <a:ext cx="835498" cy="1602074"/>
          </a:xfrm>
          <a:custGeom>
            <a:avLst/>
            <a:gdLst/>
            <a:ahLst/>
            <a:cxnLst/>
            <a:rect r="r" b="b" t="t" l="l"/>
            <a:pathLst>
              <a:path h="1602074" w="835498">
                <a:moveTo>
                  <a:pt x="0" y="0"/>
                </a:moveTo>
                <a:lnTo>
                  <a:pt x="835498" y="0"/>
                </a:lnTo>
                <a:lnTo>
                  <a:pt x="835498" y="1602074"/>
                </a:lnTo>
                <a:lnTo>
                  <a:pt x="0" y="1602074"/>
                </a:lnTo>
                <a:lnTo>
                  <a:pt x="0" y="0"/>
                </a:lnTo>
                <a:close/>
              </a:path>
            </a:pathLst>
          </a:custGeom>
          <a:blipFill>
            <a:blip r:embed="rId10"/>
            <a:stretch>
              <a:fillRect l="0" t="0" r="0" b="0"/>
            </a:stretch>
          </a:blipFill>
        </p:spPr>
      </p:sp>
      <p:sp>
        <p:nvSpPr>
          <p:cNvPr name="Freeform 13" id="13"/>
          <p:cNvSpPr/>
          <p:nvPr/>
        </p:nvSpPr>
        <p:spPr>
          <a:xfrm flipH="false" flipV="false" rot="0">
            <a:off x="825154" y="6176370"/>
            <a:ext cx="878280" cy="827217"/>
          </a:xfrm>
          <a:custGeom>
            <a:avLst/>
            <a:gdLst/>
            <a:ahLst/>
            <a:cxnLst/>
            <a:rect r="r" b="b" t="t" l="l"/>
            <a:pathLst>
              <a:path h="827217" w="878280">
                <a:moveTo>
                  <a:pt x="0" y="0"/>
                </a:moveTo>
                <a:lnTo>
                  <a:pt x="878280" y="0"/>
                </a:lnTo>
                <a:lnTo>
                  <a:pt x="878280" y="827217"/>
                </a:lnTo>
                <a:lnTo>
                  <a:pt x="0" y="827217"/>
                </a:lnTo>
                <a:lnTo>
                  <a:pt x="0" y="0"/>
                </a:lnTo>
                <a:close/>
              </a:path>
            </a:pathLst>
          </a:custGeom>
          <a:blipFill>
            <a:blip r:embed="rId11"/>
            <a:stretch>
              <a:fillRect l="0" t="0" r="0" b="0"/>
            </a:stretch>
          </a:blipFill>
        </p:spPr>
      </p:sp>
      <p:sp>
        <p:nvSpPr>
          <p:cNvPr name="Freeform 14" id="14"/>
          <p:cNvSpPr/>
          <p:nvPr/>
        </p:nvSpPr>
        <p:spPr>
          <a:xfrm flipH="false" flipV="false" rot="0">
            <a:off x="15478966" y="4675971"/>
            <a:ext cx="1061438" cy="1261123"/>
          </a:xfrm>
          <a:custGeom>
            <a:avLst/>
            <a:gdLst/>
            <a:ahLst/>
            <a:cxnLst/>
            <a:rect r="r" b="b" t="t" l="l"/>
            <a:pathLst>
              <a:path h="1261123" w="1061438">
                <a:moveTo>
                  <a:pt x="0" y="0"/>
                </a:moveTo>
                <a:lnTo>
                  <a:pt x="1061438" y="0"/>
                </a:lnTo>
                <a:lnTo>
                  <a:pt x="1061438" y="1261123"/>
                </a:lnTo>
                <a:lnTo>
                  <a:pt x="0" y="1261123"/>
                </a:lnTo>
                <a:lnTo>
                  <a:pt x="0" y="0"/>
                </a:lnTo>
                <a:close/>
              </a:path>
            </a:pathLst>
          </a:custGeom>
          <a:blipFill>
            <a:blip r:embed="rId12"/>
            <a:stretch>
              <a:fillRect l="0" t="0" r="0" b="0"/>
            </a:stretch>
          </a:blipFill>
        </p:spPr>
      </p:sp>
      <p:sp>
        <p:nvSpPr>
          <p:cNvPr name="Freeform 15" id="15"/>
          <p:cNvSpPr/>
          <p:nvPr/>
        </p:nvSpPr>
        <p:spPr>
          <a:xfrm flipH="false" flipV="false" rot="0">
            <a:off x="14286018" y="1834856"/>
            <a:ext cx="580378" cy="570272"/>
          </a:xfrm>
          <a:custGeom>
            <a:avLst/>
            <a:gdLst/>
            <a:ahLst/>
            <a:cxnLst/>
            <a:rect r="r" b="b" t="t" l="l"/>
            <a:pathLst>
              <a:path h="570272" w="580378">
                <a:moveTo>
                  <a:pt x="0" y="0"/>
                </a:moveTo>
                <a:lnTo>
                  <a:pt x="580378" y="0"/>
                </a:lnTo>
                <a:lnTo>
                  <a:pt x="580378" y="570272"/>
                </a:lnTo>
                <a:lnTo>
                  <a:pt x="0" y="570272"/>
                </a:lnTo>
                <a:lnTo>
                  <a:pt x="0" y="0"/>
                </a:lnTo>
                <a:close/>
              </a:path>
            </a:pathLst>
          </a:custGeom>
          <a:blipFill>
            <a:blip r:embed="rId13"/>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110623"/>
        </a:solidFill>
      </p:bgPr>
    </p:bg>
    <p:spTree>
      <p:nvGrpSpPr>
        <p:cNvPr id="1" name=""/>
        <p:cNvGrpSpPr/>
        <p:nvPr/>
      </p:nvGrpSpPr>
      <p:grpSpPr>
        <a:xfrm>
          <a:off x="0" y="0"/>
          <a:ext cx="0" cy="0"/>
          <a:chOff x="0" y="0"/>
          <a:chExt cx="0" cy="0"/>
        </a:xfrm>
      </p:grpSpPr>
      <p:sp>
        <p:nvSpPr>
          <p:cNvPr name="TextBox 2" id="2"/>
          <p:cNvSpPr txBox="true"/>
          <p:nvPr/>
        </p:nvSpPr>
        <p:spPr>
          <a:xfrm rot="0">
            <a:off x="3371421" y="4099233"/>
            <a:ext cx="10294812" cy="3181085"/>
          </a:xfrm>
          <a:prstGeom prst="rect">
            <a:avLst/>
          </a:prstGeom>
        </p:spPr>
        <p:txBody>
          <a:bodyPr anchor="t" rtlCol="false" tIns="0" lIns="0" bIns="0" rIns="0">
            <a:spAutoFit/>
          </a:bodyPr>
          <a:lstStyle/>
          <a:p>
            <a:pPr algn="l">
              <a:lnSpc>
                <a:spcPts val="4200"/>
              </a:lnSpc>
            </a:pPr>
            <a:r>
              <a:rPr lang="en-US" sz="3000">
                <a:solidFill>
                  <a:srgbClr val="FFFFFF"/>
                </a:solidFill>
                <a:latin typeface="Montserrat"/>
                <a:ea typeface="Montserrat"/>
                <a:cs typeface="Montserrat"/>
                <a:sym typeface="Montserrat"/>
              </a:rPr>
              <a:t>CycleGAN dipilih karena mampu bekerja dengan dataset tidak berpasangan (unpaired).</a:t>
            </a:r>
          </a:p>
          <a:p>
            <a:pPr algn="l">
              <a:lnSpc>
                <a:spcPts val="4200"/>
              </a:lnSpc>
            </a:pPr>
            <a:r>
              <a:rPr lang="en-US" sz="3000">
                <a:solidFill>
                  <a:srgbClr val="FFFFFF"/>
                </a:solidFill>
                <a:latin typeface="Montserrat"/>
                <a:ea typeface="Montserrat"/>
                <a:cs typeface="Montserrat"/>
                <a:sym typeface="Montserrat"/>
              </a:rPr>
              <a:t> Berbeda dengan Pix2Pix yang membutuhkan pasangan gambar identik, CycleGAN lebih fleksibel dan cocok untuk data seni.</a:t>
            </a:r>
          </a:p>
          <a:p>
            <a:pPr algn="l">
              <a:lnSpc>
                <a:spcPts val="4200"/>
              </a:lnSpc>
            </a:pPr>
          </a:p>
        </p:txBody>
      </p:sp>
      <p:sp>
        <p:nvSpPr>
          <p:cNvPr name="TextBox 3" id="3"/>
          <p:cNvSpPr txBox="true"/>
          <p:nvPr/>
        </p:nvSpPr>
        <p:spPr>
          <a:xfrm rot="0">
            <a:off x="3990332" y="1923816"/>
            <a:ext cx="10307337" cy="1364011"/>
          </a:xfrm>
          <a:prstGeom prst="rect">
            <a:avLst/>
          </a:prstGeom>
        </p:spPr>
        <p:txBody>
          <a:bodyPr anchor="t" rtlCol="false" tIns="0" lIns="0" bIns="0" rIns="0">
            <a:spAutoFit/>
          </a:bodyPr>
          <a:lstStyle/>
          <a:p>
            <a:pPr algn="ctr">
              <a:lnSpc>
                <a:spcPts val="5391"/>
              </a:lnSpc>
            </a:pPr>
            <a:r>
              <a:rPr lang="en-US" sz="4319">
                <a:solidFill>
                  <a:srgbClr val="FFFFFF"/>
                </a:solidFill>
                <a:latin typeface="Mokoto"/>
                <a:ea typeface="Mokoto"/>
                <a:cs typeface="Mokoto"/>
                <a:sym typeface="Mokoto"/>
              </a:rPr>
              <a:t>ALASAN MEMILIH CYCLEGAN</a:t>
            </a:r>
          </a:p>
        </p:txBody>
      </p:sp>
      <p:sp>
        <p:nvSpPr>
          <p:cNvPr name="Freeform 4" id="4"/>
          <p:cNvSpPr/>
          <p:nvPr/>
        </p:nvSpPr>
        <p:spPr>
          <a:xfrm flipH="false" flipV="false" rot="1392916">
            <a:off x="1385812" y="8447106"/>
            <a:ext cx="1158181" cy="1295867"/>
          </a:xfrm>
          <a:custGeom>
            <a:avLst/>
            <a:gdLst/>
            <a:ahLst/>
            <a:cxnLst/>
            <a:rect r="r" b="b" t="t" l="l"/>
            <a:pathLst>
              <a:path h="1295867" w="1158181">
                <a:moveTo>
                  <a:pt x="0" y="0"/>
                </a:moveTo>
                <a:lnTo>
                  <a:pt x="1158181" y="0"/>
                </a:lnTo>
                <a:lnTo>
                  <a:pt x="1158181" y="1295866"/>
                </a:lnTo>
                <a:lnTo>
                  <a:pt x="0" y="1295866"/>
                </a:lnTo>
                <a:lnTo>
                  <a:pt x="0" y="0"/>
                </a:lnTo>
                <a:close/>
              </a:path>
            </a:pathLst>
          </a:custGeom>
          <a:blipFill>
            <a:blip r:embed="rId2"/>
            <a:stretch>
              <a:fillRect l="0" t="0" r="0" b="0"/>
            </a:stretch>
          </a:blipFill>
        </p:spPr>
      </p:sp>
      <p:sp>
        <p:nvSpPr>
          <p:cNvPr name="Freeform 5" id="5"/>
          <p:cNvSpPr/>
          <p:nvPr/>
        </p:nvSpPr>
        <p:spPr>
          <a:xfrm flipH="false" flipV="false" rot="-1600701">
            <a:off x="16124851" y="1494613"/>
            <a:ext cx="1207461" cy="1277736"/>
          </a:xfrm>
          <a:custGeom>
            <a:avLst/>
            <a:gdLst/>
            <a:ahLst/>
            <a:cxnLst/>
            <a:rect r="r" b="b" t="t" l="l"/>
            <a:pathLst>
              <a:path h="1277736" w="1207461">
                <a:moveTo>
                  <a:pt x="0" y="0"/>
                </a:moveTo>
                <a:lnTo>
                  <a:pt x="1207460" y="0"/>
                </a:lnTo>
                <a:lnTo>
                  <a:pt x="1207460" y="1277736"/>
                </a:lnTo>
                <a:lnTo>
                  <a:pt x="0" y="1277736"/>
                </a:lnTo>
                <a:lnTo>
                  <a:pt x="0" y="0"/>
                </a:lnTo>
                <a:close/>
              </a:path>
            </a:pathLst>
          </a:custGeom>
          <a:blipFill>
            <a:blip r:embed="rId3"/>
            <a:stretch>
              <a:fillRect l="0" t="0" r="0" b="0"/>
            </a:stretch>
          </a:blipFill>
        </p:spPr>
      </p:sp>
      <p:sp>
        <p:nvSpPr>
          <p:cNvPr name="Freeform 6" id="6"/>
          <p:cNvSpPr/>
          <p:nvPr/>
        </p:nvSpPr>
        <p:spPr>
          <a:xfrm flipH="false" flipV="false" rot="1558470">
            <a:off x="15098001" y="9281744"/>
            <a:ext cx="1129301" cy="1199788"/>
          </a:xfrm>
          <a:custGeom>
            <a:avLst/>
            <a:gdLst/>
            <a:ahLst/>
            <a:cxnLst/>
            <a:rect r="r" b="b" t="t" l="l"/>
            <a:pathLst>
              <a:path h="1199788" w="1129301">
                <a:moveTo>
                  <a:pt x="0" y="0"/>
                </a:moveTo>
                <a:lnTo>
                  <a:pt x="1129301" y="0"/>
                </a:lnTo>
                <a:lnTo>
                  <a:pt x="1129301" y="1199788"/>
                </a:lnTo>
                <a:lnTo>
                  <a:pt x="0" y="1199788"/>
                </a:lnTo>
                <a:lnTo>
                  <a:pt x="0" y="0"/>
                </a:lnTo>
                <a:close/>
              </a:path>
            </a:pathLst>
          </a:custGeom>
          <a:blipFill>
            <a:blip r:embed="rId4"/>
            <a:stretch>
              <a:fillRect l="0" t="0" r="0" b="0"/>
            </a:stretch>
          </a:blipFill>
        </p:spPr>
      </p:sp>
      <p:sp>
        <p:nvSpPr>
          <p:cNvPr name="Freeform 7" id="7"/>
          <p:cNvSpPr/>
          <p:nvPr/>
        </p:nvSpPr>
        <p:spPr>
          <a:xfrm flipH="false" flipV="false" rot="0">
            <a:off x="589560" y="1466616"/>
            <a:ext cx="1112030" cy="1140544"/>
          </a:xfrm>
          <a:custGeom>
            <a:avLst/>
            <a:gdLst/>
            <a:ahLst/>
            <a:cxnLst/>
            <a:rect r="r" b="b" t="t" l="l"/>
            <a:pathLst>
              <a:path h="1140544" w="1112030">
                <a:moveTo>
                  <a:pt x="0" y="0"/>
                </a:moveTo>
                <a:lnTo>
                  <a:pt x="1112030" y="0"/>
                </a:lnTo>
                <a:lnTo>
                  <a:pt x="1112030" y="1140544"/>
                </a:lnTo>
                <a:lnTo>
                  <a:pt x="0" y="1140544"/>
                </a:lnTo>
                <a:lnTo>
                  <a:pt x="0" y="0"/>
                </a:lnTo>
                <a:close/>
              </a:path>
            </a:pathLst>
          </a:custGeom>
          <a:blipFill>
            <a:blip r:embed="rId5"/>
            <a:stretch>
              <a:fillRect l="0" t="0" r="0" b="0"/>
            </a:stretch>
          </a:blipFill>
        </p:spPr>
      </p:sp>
      <p:sp>
        <p:nvSpPr>
          <p:cNvPr name="Freeform 8" id="8"/>
          <p:cNvSpPr/>
          <p:nvPr/>
        </p:nvSpPr>
        <p:spPr>
          <a:xfrm flipH="false" flipV="false" rot="-941928">
            <a:off x="2953672" y="-218611"/>
            <a:ext cx="835498" cy="1602074"/>
          </a:xfrm>
          <a:custGeom>
            <a:avLst/>
            <a:gdLst/>
            <a:ahLst/>
            <a:cxnLst/>
            <a:rect r="r" b="b" t="t" l="l"/>
            <a:pathLst>
              <a:path h="1602074" w="835498">
                <a:moveTo>
                  <a:pt x="0" y="0"/>
                </a:moveTo>
                <a:lnTo>
                  <a:pt x="835498" y="0"/>
                </a:lnTo>
                <a:lnTo>
                  <a:pt x="835498" y="1602073"/>
                </a:lnTo>
                <a:lnTo>
                  <a:pt x="0" y="1602073"/>
                </a:lnTo>
                <a:lnTo>
                  <a:pt x="0" y="0"/>
                </a:lnTo>
                <a:close/>
              </a:path>
            </a:pathLst>
          </a:custGeom>
          <a:blipFill>
            <a:blip r:embed="rId6"/>
            <a:stretch>
              <a:fillRect l="0" t="0" r="0" b="0"/>
            </a:stretch>
          </a:blipFill>
        </p:spPr>
      </p:sp>
      <p:sp>
        <p:nvSpPr>
          <p:cNvPr name="Freeform 9" id="9"/>
          <p:cNvSpPr/>
          <p:nvPr/>
        </p:nvSpPr>
        <p:spPr>
          <a:xfrm flipH="false" flipV="false" rot="0">
            <a:off x="-281892" y="6881003"/>
            <a:ext cx="989057" cy="931554"/>
          </a:xfrm>
          <a:custGeom>
            <a:avLst/>
            <a:gdLst/>
            <a:ahLst/>
            <a:cxnLst/>
            <a:rect r="r" b="b" t="t" l="l"/>
            <a:pathLst>
              <a:path h="931554" w="989057">
                <a:moveTo>
                  <a:pt x="0" y="0"/>
                </a:moveTo>
                <a:lnTo>
                  <a:pt x="989058" y="0"/>
                </a:lnTo>
                <a:lnTo>
                  <a:pt x="989058" y="931554"/>
                </a:lnTo>
                <a:lnTo>
                  <a:pt x="0" y="931554"/>
                </a:lnTo>
                <a:lnTo>
                  <a:pt x="0" y="0"/>
                </a:lnTo>
                <a:close/>
              </a:path>
            </a:pathLst>
          </a:custGeom>
          <a:blipFill>
            <a:blip r:embed="rId7"/>
            <a:stretch>
              <a:fillRect l="0" t="0" r="0" b="0"/>
            </a:stretch>
          </a:blipFill>
        </p:spPr>
      </p:sp>
      <p:sp>
        <p:nvSpPr>
          <p:cNvPr name="Freeform 10" id="10"/>
          <p:cNvSpPr/>
          <p:nvPr/>
        </p:nvSpPr>
        <p:spPr>
          <a:xfrm flipH="false" flipV="false" rot="0">
            <a:off x="16728581" y="7280319"/>
            <a:ext cx="1061438" cy="1261123"/>
          </a:xfrm>
          <a:custGeom>
            <a:avLst/>
            <a:gdLst/>
            <a:ahLst/>
            <a:cxnLst/>
            <a:rect r="r" b="b" t="t" l="l"/>
            <a:pathLst>
              <a:path h="1261123" w="1061438">
                <a:moveTo>
                  <a:pt x="0" y="0"/>
                </a:moveTo>
                <a:lnTo>
                  <a:pt x="1061438" y="0"/>
                </a:lnTo>
                <a:lnTo>
                  <a:pt x="1061438" y="1261123"/>
                </a:lnTo>
                <a:lnTo>
                  <a:pt x="0" y="1261123"/>
                </a:lnTo>
                <a:lnTo>
                  <a:pt x="0" y="0"/>
                </a:lnTo>
                <a:close/>
              </a:path>
            </a:pathLst>
          </a:custGeom>
          <a:blipFill>
            <a:blip r:embed="rId8"/>
            <a:stretch>
              <a:fillRect l="0" t="0" r="0" b="0"/>
            </a:stretch>
          </a:blipFill>
        </p:spPr>
      </p:sp>
      <p:sp>
        <p:nvSpPr>
          <p:cNvPr name="Freeform 11" id="11"/>
          <p:cNvSpPr/>
          <p:nvPr/>
        </p:nvSpPr>
        <p:spPr>
          <a:xfrm flipH="false" flipV="false" rot="0">
            <a:off x="14484896" y="-418069"/>
            <a:ext cx="850955" cy="836137"/>
          </a:xfrm>
          <a:custGeom>
            <a:avLst/>
            <a:gdLst/>
            <a:ahLst/>
            <a:cxnLst/>
            <a:rect r="r" b="b" t="t" l="l"/>
            <a:pathLst>
              <a:path h="836137" w="850955">
                <a:moveTo>
                  <a:pt x="0" y="0"/>
                </a:moveTo>
                <a:lnTo>
                  <a:pt x="850955" y="0"/>
                </a:lnTo>
                <a:lnTo>
                  <a:pt x="850955" y="836138"/>
                </a:lnTo>
                <a:lnTo>
                  <a:pt x="0" y="836138"/>
                </a:lnTo>
                <a:lnTo>
                  <a:pt x="0" y="0"/>
                </a:lnTo>
                <a:close/>
              </a:path>
            </a:pathLst>
          </a:custGeom>
          <a:blipFill>
            <a:blip r:embed="rId9"/>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110623"/>
        </a:solidFill>
      </p:bgPr>
    </p:bg>
    <p:spTree>
      <p:nvGrpSpPr>
        <p:cNvPr id="1" name=""/>
        <p:cNvGrpSpPr/>
        <p:nvPr/>
      </p:nvGrpSpPr>
      <p:grpSpPr>
        <a:xfrm>
          <a:off x="0" y="0"/>
          <a:ext cx="0" cy="0"/>
          <a:chOff x="0" y="0"/>
          <a:chExt cx="0" cy="0"/>
        </a:xfrm>
      </p:grpSpPr>
      <p:sp>
        <p:nvSpPr>
          <p:cNvPr name="Freeform 2" id="2"/>
          <p:cNvSpPr/>
          <p:nvPr/>
        </p:nvSpPr>
        <p:spPr>
          <a:xfrm flipH="false" flipV="false" rot="0">
            <a:off x="-1495471" y="-1806807"/>
            <a:ext cx="4641250" cy="4211934"/>
          </a:xfrm>
          <a:custGeom>
            <a:avLst/>
            <a:gdLst/>
            <a:ahLst/>
            <a:cxnLst/>
            <a:rect r="r" b="b" t="t" l="l"/>
            <a:pathLst>
              <a:path h="4211934" w="4641250">
                <a:moveTo>
                  <a:pt x="0" y="0"/>
                </a:moveTo>
                <a:lnTo>
                  <a:pt x="4641250" y="0"/>
                </a:lnTo>
                <a:lnTo>
                  <a:pt x="4641250" y="4211935"/>
                </a:lnTo>
                <a:lnTo>
                  <a:pt x="0" y="4211935"/>
                </a:lnTo>
                <a:lnTo>
                  <a:pt x="0" y="0"/>
                </a:lnTo>
                <a:close/>
              </a:path>
            </a:pathLst>
          </a:custGeom>
          <a:blipFill>
            <a:blip r:embed="rId2"/>
            <a:stretch>
              <a:fillRect l="0" t="0" r="0" b="0"/>
            </a:stretch>
          </a:blipFill>
        </p:spPr>
      </p:sp>
      <p:sp>
        <p:nvSpPr>
          <p:cNvPr name="Freeform 3" id="3"/>
          <p:cNvSpPr/>
          <p:nvPr/>
        </p:nvSpPr>
        <p:spPr>
          <a:xfrm flipH="false" flipV="false" rot="0">
            <a:off x="13422249" y="5418528"/>
            <a:ext cx="7674102" cy="8229600"/>
          </a:xfrm>
          <a:custGeom>
            <a:avLst/>
            <a:gdLst/>
            <a:ahLst/>
            <a:cxnLst/>
            <a:rect r="r" b="b" t="t" l="l"/>
            <a:pathLst>
              <a:path h="8229600" w="7674102">
                <a:moveTo>
                  <a:pt x="0" y="0"/>
                </a:moveTo>
                <a:lnTo>
                  <a:pt x="7674102" y="0"/>
                </a:lnTo>
                <a:lnTo>
                  <a:pt x="7674102" y="8229600"/>
                </a:lnTo>
                <a:lnTo>
                  <a:pt x="0" y="8229600"/>
                </a:lnTo>
                <a:lnTo>
                  <a:pt x="0" y="0"/>
                </a:lnTo>
                <a:close/>
              </a:path>
            </a:pathLst>
          </a:custGeom>
          <a:blipFill>
            <a:blip r:embed="rId3"/>
            <a:stretch>
              <a:fillRect l="0" t="0" r="0" b="0"/>
            </a:stretch>
          </a:blipFill>
        </p:spPr>
      </p:sp>
      <p:sp>
        <p:nvSpPr>
          <p:cNvPr name="Freeform 4" id="4"/>
          <p:cNvSpPr/>
          <p:nvPr/>
        </p:nvSpPr>
        <p:spPr>
          <a:xfrm flipH="false" flipV="false" rot="-5314299">
            <a:off x="-2855847" y="6743327"/>
            <a:ext cx="6654437" cy="6446486"/>
          </a:xfrm>
          <a:custGeom>
            <a:avLst/>
            <a:gdLst/>
            <a:ahLst/>
            <a:cxnLst/>
            <a:rect r="r" b="b" t="t" l="l"/>
            <a:pathLst>
              <a:path h="6446486" w="6654437">
                <a:moveTo>
                  <a:pt x="0" y="0"/>
                </a:moveTo>
                <a:lnTo>
                  <a:pt x="6654437" y="0"/>
                </a:lnTo>
                <a:lnTo>
                  <a:pt x="6654437" y="6446486"/>
                </a:lnTo>
                <a:lnTo>
                  <a:pt x="0" y="6446486"/>
                </a:lnTo>
                <a:lnTo>
                  <a:pt x="0" y="0"/>
                </a:lnTo>
                <a:close/>
              </a:path>
            </a:pathLst>
          </a:custGeom>
          <a:blipFill>
            <a:blip r:embed="rId4"/>
            <a:stretch>
              <a:fillRect l="0" t="0" r="0" b="0"/>
            </a:stretch>
          </a:blipFill>
        </p:spPr>
      </p:sp>
      <p:sp>
        <p:nvSpPr>
          <p:cNvPr name="Freeform 5" id="5"/>
          <p:cNvSpPr/>
          <p:nvPr/>
        </p:nvSpPr>
        <p:spPr>
          <a:xfrm flipH="false" flipV="false" rot="122150">
            <a:off x="11903418" y="-4183523"/>
            <a:ext cx="7153009" cy="6178411"/>
          </a:xfrm>
          <a:custGeom>
            <a:avLst/>
            <a:gdLst/>
            <a:ahLst/>
            <a:cxnLst/>
            <a:rect r="r" b="b" t="t" l="l"/>
            <a:pathLst>
              <a:path h="6178411" w="7153009">
                <a:moveTo>
                  <a:pt x="0" y="0"/>
                </a:moveTo>
                <a:lnTo>
                  <a:pt x="7153008" y="0"/>
                </a:lnTo>
                <a:lnTo>
                  <a:pt x="7153008" y="6178411"/>
                </a:lnTo>
                <a:lnTo>
                  <a:pt x="0" y="6178411"/>
                </a:lnTo>
                <a:lnTo>
                  <a:pt x="0" y="0"/>
                </a:lnTo>
                <a:close/>
              </a:path>
            </a:pathLst>
          </a:custGeom>
          <a:blipFill>
            <a:blip r:embed="rId5"/>
            <a:stretch>
              <a:fillRect l="0" t="0" r="0" b="0"/>
            </a:stretch>
          </a:blipFill>
        </p:spPr>
      </p:sp>
      <p:sp>
        <p:nvSpPr>
          <p:cNvPr name="TextBox 6" id="6"/>
          <p:cNvSpPr txBox="true"/>
          <p:nvPr/>
        </p:nvSpPr>
        <p:spPr>
          <a:xfrm rot="0">
            <a:off x="2692959" y="1763169"/>
            <a:ext cx="9438781" cy="660241"/>
          </a:xfrm>
          <a:prstGeom prst="rect">
            <a:avLst/>
          </a:prstGeom>
        </p:spPr>
        <p:txBody>
          <a:bodyPr anchor="t" rtlCol="false" tIns="0" lIns="0" bIns="0" rIns="0">
            <a:spAutoFit/>
          </a:bodyPr>
          <a:lstStyle/>
          <a:p>
            <a:pPr algn="l">
              <a:lnSpc>
                <a:spcPts val="5241"/>
              </a:lnSpc>
            </a:pPr>
            <a:r>
              <a:rPr lang="en-US" sz="4200">
                <a:solidFill>
                  <a:srgbClr val="FFFFFF"/>
                </a:solidFill>
                <a:latin typeface="Mokoto"/>
                <a:ea typeface="Mokoto"/>
                <a:cs typeface="Mokoto"/>
                <a:sym typeface="Mokoto"/>
              </a:rPr>
              <a:t>PERBANDINGAN MODEL</a:t>
            </a:r>
          </a:p>
        </p:txBody>
      </p:sp>
      <p:sp>
        <p:nvSpPr>
          <p:cNvPr name="TextBox 7" id="7"/>
          <p:cNvSpPr txBox="true"/>
          <p:nvPr/>
        </p:nvSpPr>
        <p:spPr>
          <a:xfrm rot="0">
            <a:off x="1910739" y="3904262"/>
            <a:ext cx="9646042" cy="2101982"/>
          </a:xfrm>
          <a:prstGeom prst="rect">
            <a:avLst/>
          </a:prstGeom>
        </p:spPr>
        <p:txBody>
          <a:bodyPr anchor="t" rtlCol="false" tIns="0" lIns="0" bIns="0" rIns="0">
            <a:spAutoFit/>
          </a:bodyPr>
          <a:lstStyle/>
          <a:p>
            <a:pPr algn="l">
              <a:lnSpc>
                <a:spcPts val="2800"/>
              </a:lnSpc>
            </a:pPr>
            <a:r>
              <a:rPr lang="en-US" sz="2000">
                <a:solidFill>
                  <a:srgbClr val="FFFFFF"/>
                </a:solidFill>
                <a:latin typeface="Montserrat"/>
                <a:ea typeface="Montserrat"/>
                <a:cs typeface="Montserrat"/>
                <a:sym typeface="Montserrat"/>
              </a:rPr>
              <a:t>Model GAN yang bekerja dengan data berpasangan (paired), di mana setiap gambar input harus memiliki pasangan target yang sama persis. Model ini mampu menghasilkan output yang sangat akurat, namun pada kasus seni seperti foto pemandangan dan lukisan Monet, sangat sulit mendapatkan pasangan gambar dengan sudut</a:t>
            </a:r>
            <a:r>
              <a:rPr lang="en-US" sz="2000">
                <a:solidFill>
                  <a:srgbClr val="FFFFFF"/>
                </a:solidFill>
                <a:latin typeface="Montserrat"/>
                <a:ea typeface="Montserrat"/>
                <a:cs typeface="Montserrat"/>
                <a:sym typeface="Montserrat"/>
              </a:rPr>
              <a:t> pandang dan objek yang identik.</a:t>
            </a:r>
          </a:p>
        </p:txBody>
      </p:sp>
      <p:sp>
        <p:nvSpPr>
          <p:cNvPr name="Freeform 8" id="8"/>
          <p:cNvSpPr/>
          <p:nvPr/>
        </p:nvSpPr>
        <p:spPr>
          <a:xfrm flipH="false" flipV="false" rot="-1600701">
            <a:off x="17481867" y="2626461"/>
            <a:ext cx="1207461" cy="1277736"/>
          </a:xfrm>
          <a:custGeom>
            <a:avLst/>
            <a:gdLst/>
            <a:ahLst/>
            <a:cxnLst/>
            <a:rect r="r" b="b" t="t" l="l"/>
            <a:pathLst>
              <a:path h="1277736" w="1207461">
                <a:moveTo>
                  <a:pt x="0" y="0"/>
                </a:moveTo>
                <a:lnTo>
                  <a:pt x="1207461" y="0"/>
                </a:lnTo>
                <a:lnTo>
                  <a:pt x="1207461" y="1277736"/>
                </a:lnTo>
                <a:lnTo>
                  <a:pt x="0" y="1277736"/>
                </a:lnTo>
                <a:lnTo>
                  <a:pt x="0" y="0"/>
                </a:lnTo>
                <a:close/>
              </a:path>
            </a:pathLst>
          </a:custGeom>
          <a:blipFill>
            <a:blip r:embed="rId6"/>
            <a:stretch>
              <a:fillRect l="0" t="0" r="0" b="0"/>
            </a:stretch>
          </a:blipFill>
        </p:spPr>
      </p:sp>
      <p:sp>
        <p:nvSpPr>
          <p:cNvPr name="Freeform 9" id="9"/>
          <p:cNvSpPr/>
          <p:nvPr/>
        </p:nvSpPr>
        <p:spPr>
          <a:xfrm flipH="false" flipV="false" rot="1558470">
            <a:off x="12277033" y="8603576"/>
            <a:ext cx="797660" cy="847448"/>
          </a:xfrm>
          <a:custGeom>
            <a:avLst/>
            <a:gdLst/>
            <a:ahLst/>
            <a:cxnLst/>
            <a:rect r="r" b="b" t="t" l="l"/>
            <a:pathLst>
              <a:path h="847448" w="797660">
                <a:moveTo>
                  <a:pt x="0" y="0"/>
                </a:moveTo>
                <a:lnTo>
                  <a:pt x="797660" y="0"/>
                </a:lnTo>
                <a:lnTo>
                  <a:pt x="797660" y="847448"/>
                </a:lnTo>
                <a:lnTo>
                  <a:pt x="0" y="847448"/>
                </a:lnTo>
                <a:lnTo>
                  <a:pt x="0" y="0"/>
                </a:lnTo>
                <a:close/>
              </a:path>
            </a:pathLst>
          </a:custGeom>
          <a:blipFill>
            <a:blip r:embed="rId7"/>
            <a:stretch>
              <a:fillRect l="0" t="0" r="0" b="0"/>
            </a:stretch>
          </a:blipFill>
        </p:spPr>
      </p:sp>
      <p:sp>
        <p:nvSpPr>
          <p:cNvPr name="Freeform 10" id="10"/>
          <p:cNvSpPr/>
          <p:nvPr/>
        </p:nvSpPr>
        <p:spPr>
          <a:xfrm flipH="false" flipV="false" rot="0">
            <a:off x="-96964" y="2472541"/>
            <a:ext cx="922118" cy="945762"/>
          </a:xfrm>
          <a:custGeom>
            <a:avLst/>
            <a:gdLst/>
            <a:ahLst/>
            <a:cxnLst/>
            <a:rect r="r" b="b" t="t" l="l"/>
            <a:pathLst>
              <a:path h="945762" w="922118">
                <a:moveTo>
                  <a:pt x="0" y="0"/>
                </a:moveTo>
                <a:lnTo>
                  <a:pt x="922118" y="0"/>
                </a:lnTo>
                <a:lnTo>
                  <a:pt x="922118" y="945762"/>
                </a:lnTo>
                <a:lnTo>
                  <a:pt x="0" y="945762"/>
                </a:lnTo>
                <a:lnTo>
                  <a:pt x="0" y="0"/>
                </a:lnTo>
                <a:close/>
              </a:path>
            </a:pathLst>
          </a:custGeom>
          <a:blipFill>
            <a:blip r:embed="rId8"/>
            <a:stretch>
              <a:fillRect l="0" t="0" r="0" b="0"/>
            </a:stretch>
          </a:blipFill>
        </p:spPr>
      </p:sp>
      <p:sp>
        <p:nvSpPr>
          <p:cNvPr name="Freeform 11" id="11"/>
          <p:cNvSpPr/>
          <p:nvPr/>
        </p:nvSpPr>
        <p:spPr>
          <a:xfrm flipH="false" flipV="false" rot="-1494861">
            <a:off x="3855320" y="-501876"/>
            <a:ext cx="835498" cy="1602074"/>
          </a:xfrm>
          <a:custGeom>
            <a:avLst/>
            <a:gdLst/>
            <a:ahLst/>
            <a:cxnLst/>
            <a:rect r="r" b="b" t="t" l="l"/>
            <a:pathLst>
              <a:path h="1602074" w="835498">
                <a:moveTo>
                  <a:pt x="0" y="0"/>
                </a:moveTo>
                <a:lnTo>
                  <a:pt x="835498" y="0"/>
                </a:lnTo>
                <a:lnTo>
                  <a:pt x="835498" y="1602073"/>
                </a:lnTo>
                <a:lnTo>
                  <a:pt x="0" y="1602073"/>
                </a:lnTo>
                <a:lnTo>
                  <a:pt x="0" y="0"/>
                </a:lnTo>
                <a:close/>
              </a:path>
            </a:pathLst>
          </a:custGeom>
          <a:blipFill>
            <a:blip r:embed="rId9"/>
            <a:stretch>
              <a:fillRect l="0" t="0" r="0" b="0"/>
            </a:stretch>
          </a:blipFill>
        </p:spPr>
      </p:sp>
      <p:sp>
        <p:nvSpPr>
          <p:cNvPr name="Freeform 12" id="12"/>
          <p:cNvSpPr/>
          <p:nvPr/>
        </p:nvSpPr>
        <p:spPr>
          <a:xfrm flipH="false" flipV="false" rot="0">
            <a:off x="0" y="6059487"/>
            <a:ext cx="878280" cy="827217"/>
          </a:xfrm>
          <a:custGeom>
            <a:avLst/>
            <a:gdLst/>
            <a:ahLst/>
            <a:cxnLst/>
            <a:rect r="r" b="b" t="t" l="l"/>
            <a:pathLst>
              <a:path h="827217" w="878280">
                <a:moveTo>
                  <a:pt x="0" y="0"/>
                </a:moveTo>
                <a:lnTo>
                  <a:pt x="878280" y="0"/>
                </a:lnTo>
                <a:lnTo>
                  <a:pt x="878280" y="827217"/>
                </a:lnTo>
                <a:lnTo>
                  <a:pt x="0" y="827217"/>
                </a:lnTo>
                <a:lnTo>
                  <a:pt x="0" y="0"/>
                </a:lnTo>
                <a:close/>
              </a:path>
            </a:pathLst>
          </a:custGeom>
          <a:blipFill>
            <a:blip r:embed="rId10"/>
            <a:stretch>
              <a:fillRect l="0" t="0" r="0" b="0"/>
            </a:stretch>
          </a:blipFill>
        </p:spPr>
      </p:sp>
      <p:sp>
        <p:nvSpPr>
          <p:cNvPr name="Freeform 13" id="13"/>
          <p:cNvSpPr/>
          <p:nvPr/>
        </p:nvSpPr>
        <p:spPr>
          <a:xfrm flipH="false" flipV="false" rot="0">
            <a:off x="8355715" y="9533328"/>
            <a:ext cx="1061438" cy="1261123"/>
          </a:xfrm>
          <a:custGeom>
            <a:avLst/>
            <a:gdLst/>
            <a:ahLst/>
            <a:cxnLst/>
            <a:rect r="r" b="b" t="t" l="l"/>
            <a:pathLst>
              <a:path h="1261123" w="1061438">
                <a:moveTo>
                  <a:pt x="0" y="0"/>
                </a:moveTo>
                <a:lnTo>
                  <a:pt x="1061438" y="0"/>
                </a:lnTo>
                <a:lnTo>
                  <a:pt x="1061438" y="1261123"/>
                </a:lnTo>
                <a:lnTo>
                  <a:pt x="0" y="1261123"/>
                </a:lnTo>
                <a:lnTo>
                  <a:pt x="0" y="0"/>
                </a:lnTo>
                <a:close/>
              </a:path>
            </a:pathLst>
          </a:custGeom>
          <a:blipFill>
            <a:blip r:embed="rId11"/>
            <a:stretch>
              <a:fillRect l="0" t="0" r="0" b="0"/>
            </a:stretch>
          </a:blipFill>
        </p:spPr>
      </p:sp>
      <p:sp>
        <p:nvSpPr>
          <p:cNvPr name="Freeform 14" id="14"/>
          <p:cNvSpPr/>
          <p:nvPr/>
        </p:nvSpPr>
        <p:spPr>
          <a:xfrm flipH="false" flipV="false" rot="0">
            <a:off x="9609522" y="-271111"/>
            <a:ext cx="580378" cy="570272"/>
          </a:xfrm>
          <a:custGeom>
            <a:avLst/>
            <a:gdLst/>
            <a:ahLst/>
            <a:cxnLst/>
            <a:rect r="r" b="b" t="t" l="l"/>
            <a:pathLst>
              <a:path h="570272" w="580378">
                <a:moveTo>
                  <a:pt x="0" y="0"/>
                </a:moveTo>
                <a:lnTo>
                  <a:pt x="580378" y="0"/>
                </a:lnTo>
                <a:lnTo>
                  <a:pt x="580378" y="570272"/>
                </a:lnTo>
                <a:lnTo>
                  <a:pt x="0" y="570272"/>
                </a:lnTo>
                <a:lnTo>
                  <a:pt x="0" y="0"/>
                </a:lnTo>
                <a:close/>
              </a:path>
            </a:pathLst>
          </a:custGeom>
          <a:blipFill>
            <a:blip r:embed="rId12"/>
            <a:stretch>
              <a:fillRect l="0" t="0" r="0" b="0"/>
            </a:stretch>
          </a:blipFill>
        </p:spPr>
      </p:sp>
      <p:sp>
        <p:nvSpPr>
          <p:cNvPr name="TextBox 15" id="15"/>
          <p:cNvSpPr txBox="true"/>
          <p:nvPr/>
        </p:nvSpPr>
        <p:spPr>
          <a:xfrm rot="0">
            <a:off x="2692959" y="2966335"/>
            <a:ext cx="3558964" cy="422231"/>
          </a:xfrm>
          <a:prstGeom prst="rect">
            <a:avLst/>
          </a:prstGeom>
        </p:spPr>
        <p:txBody>
          <a:bodyPr anchor="t" rtlCol="false" tIns="0" lIns="0" bIns="0" rIns="0">
            <a:spAutoFit/>
          </a:bodyPr>
          <a:lstStyle/>
          <a:p>
            <a:pPr algn="l">
              <a:lnSpc>
                <a:spcPts val="3499"/>
              </a:lnSpc>
              <a:spcBef>
                <a:spcPct val="0"/>
              </a:spcBef>
            </a:pPr>
            <a:r>
              <a:rPr lang="en-US" sz="2499">
                <a:solidFill>
                  <a:srgbClr val="FFFFFF"/>
                </a:solidFill>
                <a:latin typeface="Mokoto"/>
                <a:ea typeface="Mokoto"/>
                <a:cs typeface="Mokoto"/>
                <a:sym typeface="Mokoto"/>
              </a:rPr>
              <a:t>Pix2Pix </a:t>
            </a:r>
          </a:p>
        </p:txBody>
      </p:sp>
      <p:sp>
        <p:nvSpPr>
          <p:cNvPr name="TextBox 16" id="16"/>
          <p:cNvSpPr txBox="true"/>
          <p:nvPr/>
        </p:nvSpPr>
        <p:spPr>
          <a:xfrm rot="0">
            <a:off x="2285673" y="7163946"/>
            <a:ext cx="9646042" cy="1749535"/>
          </a:xfrm>
          <a:prstGeom prst="rect">
            <a:avLst/>
          </a:prstGeom>
        </p:spPr>
        <p:txBody>
          <a:bodyPr anchor="t" rtlCol="false" tIns="0" lIns="0" bIns="0" rIns="0">
            <a:spAutoFit/>
          </a:bodyPr>
          <a:lstStyle/>
          <a:p>
            <a:pPr algn="l">
              <a:lnSpc>
                <a:spcPts val="2800"/>
              </a:lnSpc>
            </a:pPr>
            <a:r>
              <a:rPr lang="en-US" sz="2000">
                <a:solidFill>
                  <a:srgbClr val="FFFFFF"/>
                </a:solidFill>
                <a:latin typeface="Montserrat"/>
                <a:ea typeface="Montserrat"/>
                <a:cs typeface="Montserrat"/>
                <a:sym typeface="Montserrat"/>
              </a:rPr>
              <a:t>Mengatasi keterbatasan tersebut karena mampu bekerja dengan data tidak berpasangan (unpaired). Model ini hanya membutuhkan dua kumpulan gambar dari domain yang berbeda tanpa hubungan langsung antar gambar. Dengan mekanisme cycle consistency, CycleGAN tetap mampu menjaga struktur objek asli sambil mentransfer</a:t>
            </a:r>
            <a:r>
              <a:rPr lang="en-US" sz="2000">
                <a:solidFill>
                  <a:srgbClr val="FFFFFF"/>
                </a:solidFill>
                <a:latin typeface="Montserrat"/>
                <a:ea typeface="Montserrat"/>
                <a:cs typeface="Montserrat"/>
                <a:sym typeface="Montserrat"/>
              </a:rPr>
              <a:t> gaya artistik.</a:t>
            </a:r>
          </a:p>
        </p:txBody>
      </p:sp>
      <p:sp>
        <p:nvSpPr>
          <p:cNvPr name="TextBox 17" id="17"/>
          <p:cNvSpPr txBox="true"/>
          <p:nvPr/>
        </p:nvSpPr>
        <p:spPr>
          <a:xfrm rot="0">
            <a:off x="3549730" y="6325113"/>
            <a:ext cx="3558964" cy="422231"/>
          </a:xfrm>
          <a:prstGeom prst="rect">
            <a:avLst/>
          </a:prstGeom>
        </p:spPr>
        <p:txBody>
          <a:bodyPr anchor="t" rtlCol="false" tIns="0" lIns="0" bIns="0" rIns="0">
            <a:spAutoFit/>
          </a:bodyPr>
          <a:lstStyle/>
          <a:p>
            <a:pPr algn="l">
              <a:lnSpc>
                <a:spcPts val="3499"/>
              </a:lnSpc>
              <a:spcBef>
                <a:spcPct val="0"/>
              </a:spcBef>
            </a:pPr>
            <a:r>
              <a:rPr lang="en-US" sz="2499">
                <a:solidFill>
                  <a:srgbClr val="FFFFFF"/>
                </a:solidFill>
                <a:latin typeface="Mokoto"/>
                <a:ea typeface="Mokoto"/>
                <a:cs typeface="Mokoto"/>
                <a:sym typeface="Mokoto"/>
              </a:rPr>
              <a:t>CycleGAN</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110623"/>
        </a:solidFill>
      </p:bgPr>
    </p:bg>
    <p:spTree>
      <p:nvGrpSpPr>
        <p:cNvPr id="1" name=""/>
        <p:cNvGrpSpPr/>
        <p:nvPr/>
      </p:nvGrpSpPr>
      <p:grpSpPr>
        <a:xfrm>
          <a:off x="0" y="0"/>
          <a:ext cx="0" cy="0"/>
          <a:chOff x="0" y="0"/>
          <a:chExt cx="0" cy="0"/>
        </a:xfrm>
      </p:grpSpPr>
      <p:sp>
        <p:nvSpPr>
          <p:cNvPr name="TextBox 2" id="2"/>
          <p:cNvSpPr txBox="true"/>
          <p:nvPr/>
        </p:nvSpPr>
        <p:spPr>
          <a:xfrm rot="0">
            <a:off x="4670303" y="4233273"/>
            <a:ext cx="8947394" cy="2647730"/>
          </a:xfrm>
          <a:prstGeom prst="rect">
            <a:avLst/>
          </a:prstGeom>
        </p:spPr>
        <p:txBody>
          <a:bodyPr anchor="t" rtlCol="false" tIns="0" lIns="0" bIns="0" rIns="0">
            <a:spAutoFit/>
          </a:bodyPr>
          <a:lstStyle/>
          <a:p>
            <a:pPr algn="ctr">
              <a:lnSpc>
                <a:spcPts val="4200"/>
              </a:lnSpc>
            </a:pPr>
            <a:r>
              <a:rPr lang="en-US" sz="3000">
                <a:solidFill>
                  <a:srgbClr val="FFFFFF"/>
                </a:solidFill>
                <a:latin typeface="Montserrat"/>
                <a:ea typeface="Montserrat"/>
                <a:cs typeface="Montserrat"/>
                <a:sym typeface="Montserrat"/>
              </a:rPr>
              <a:t>Dataset diambil dari Kaggle, terdiri dari foto pemandangan dan lukisan Monet.</a:t>
            </a:r>
          </a:p>
          <a:p>
            <a:pPr algn="ctr">
              <a:lnSpc>
                <a:spcPts val="4200"/>
              </a:lnSpc>
            </a:pPr>
            <a:r>
              <a:rPr lang="en-US" sz="3000">
                <a:solidFill>
                  <a:srgbClr val="FFFFFF"/>
                </a:solidFill>
                <a:latin typeface="Montserrat"/>
                <a:ea typeface="Montserrat"/>
                <a:cs typeface="Montserrat"/>
                <a:sym typeface="Montserrat"/>
              </a:rPr>
              <a:t> Gambar diubah ke ukuran 256×256 dan diberi augmentasi seperti random crop dan horizontal flip.</a:t>
            </a:r>
          </a:p>
        </p:txBody>
      </p:sp>
      <p:sp>
        <p:nvSpPr>
          <p:cNvPr name="TextBox 3" id="3"/>
          <p:cNvSpPr txBox="true"/>
          <p:nvPr/>
        </p:nvSpPr>
        <p:spPr>
          <a:xfrm rot="0">
            <a:off x="3278950" y="2946824"/>
            <a:ext cx="12383702" cy="683126"/>
          </a:xfrm>
          <a:prstGeom prst="rect">
            <a:avLst/>
          </a:prstGeom>
        </p:spPr>
        <p:txBody>
          <a:bodyPr anchor="t" rtlCol="false" tIns="0" lIns="0" bIns="0" rIns="0">
            <a:spAutoFit/>
          </a:bodyPr>
          <a:lstStyle/>
          <a:p>
            <a:pPr algn="ctr">
              <a:lnSpc>
                <a:spcPts val="5391"/>
              </a:lnSpc>
            </a:pPr>
            <a:r>
              <a:rPr lang="en-US" sz="4319">
                <a:solidFill>
                  <a:srgbClr val="FFFFFF"/>
                </a:solidFill>
                <a:latin typeface="Mokoto"/>
                <a:ea typeface="Mokoto"/>
                <a:cs typeface="Mokoto"/>
                <a:sym typeface="Mokoto"/>
              </a:rPr>
              <a:t>DATASET &amp; PERSIAPAN DATA</a:t>
            </a:r>
          </a:p>
        </p:txBody>
      </p:sp>
      <p:sp>
        <p:nvSpPr>
          <p:cNvPr name="Freeform 4" id="4"/>
          <p:cNvSpPr/>
          <p:nvPr/>
        </p:nvSpPr>
        <p:spPr>
          <a:xfrm flipH="false" flipV="false" rot="1392916">
            <a:off x="1385812" y="8447106"/>
            <a:ext cx="1158181" cy="1295867"/>
          </a:xfrm>
          <a:custGeom>
            <a:avLst/>
            <a:gdLst/>
            <a:ahLst/>
            <a:cxnLst/>
            <a:rect r="r" b="b" t="t" l="l"/>
            <a:pathLst>
              <a:path h="1295867" w="1158181">
                <a:moveTo>
                  <a:pt x="0" y="0"/>
                </a:moveTo>
                <a:lnTo>
                  <a:pt x="1158181" y="0"/>
                </a:lnTo>
                <a:lnTo>
                  <a:pt x="1158181" y="1295866"/>
                </a:lnTo>
                <a:lnTo>
                  <a:pt x="0" y="1295866"/>
                </a:lnTo>
                <a:lnTo>
                  <a:pt x="0" y="0"/>
                </a:lnTo>
                <a:close/>
              </a:path>
            </a:pathLst>
          </a:custGeom>
          <a:blipFill>
            <a:blip r:embed="rId2"/>
            <a:stretch>
              <a:fillRect l="0" t="0" r="0" b="0"/>
            </a:stretch>
          </a:blipFill>
        </p:spPr>
      </p:sp>
      <p:sp>
        <p:nvSpPr>
          <p:cNvPr name="Freeform 5" id="5"/>
          <p:cNvSpPr/>
          <p:nvPr/>
        </p:nvSpPr>
        <p:spPr>
          <a:xfrm flipH="false" flipV="false" rot="-1600701">
            <a:off x="16124851" y="1494613"/>
            <a:ext cx="1207461" cy="1277736"/>
          </a:xfrm>
          <a:custGeom>
            <a:avLst/>
            <a:gdLst/>
            <a:ahLst/>
            <a:cxnLst/>
            <a:rect r="r" b="b" t="t" l="l"/>
            <a:pathLst>
              <a:path h="1277736" w="1207461">
                <a:moveTo>
                  <a:pt x="0" y="0"/>
                </a:moveTo>
                <a:lnTo>
                  <a:pt x="1207460" y="0"/>
                </a:lnTo>
                <a:lnTo>
                  <a:pt x="1207460" y="1277736"/>
                </a:lnTo>
                <a:lnTo>
                  <a:pt x="0" y="1277736"/>
                </a:lnTo>
                <a:lnTo>
                  <a:pt x="0" y="0"/>
                </a:lnTo>
                <a:close/>
              </a:path>
            </a:pathLst>
          </a:custGeom>
          <a:blipFill>
            <a:blip r:embed="rId3"/>
            <a:stretch>
              <a:fillRect l="0" t="0" r="0" b="0"/>
            </a:stretch>
          </a:blipFill>
        </p:spPr>
      </p:sp>
      <p:sp>
        <p:nvSpPr>
          <p:cNvPr name="Freeform 6" id="6"/>
          <p:cNvSpPr/>
          <p:nvPr/>
        </p:nvSpPr>
        <p:spPr>
          <a:xfrm flipH="false" flipV="false" rot="1558470">
            <a:off x="15098001" y="9281744"/>
            <a:ext cx="1129301" cy="1199788"/>
          </a:xfrm>
          <a:custGeom>
            <a:avLst/>
            <a:gdLst/>
            <a:ahLst/>
            <a:cxnLst/>
            <a:rect r="r" b="b" t="t" l="l"/>
            <a:pathLst>
              <a:path h="1199788" w="1129301">
                <a:moveTo>
                  <a:pt x="0" y="0"/>
                </a:moveTo>
                <a:lnTo>
                  <a:pt x="1129301" y="0"/>
                </a:lnTo>
                <a:lnTo>
                  <a:pt x="1129301" y="1199788"/>
                </a:lnTo>
                <a:lnTo>
                  <a:pt x="0" y="1199788"/>
                </a:lnTo>
                <a:lnTo>
                  <a:pt x="0" y="0"/>
                </a:lnTo>
                <a:close/>
              </a:path>
            </a:pathLst>
          </a:custGeom>
          <a:blipFill>
            <a:blip r:embed="rId4"/>
            <a:stretch>
              <a:fillRect l="0" t="0" r="0" b="0"/>
            </a:stretch>
          </a:blipFill>
        </p:spPr>
      </p:sp>
      <p:sp>
        <p:nvSpPr>
          <p:cNvPr name="Freeform 7" id="7"/>
          <p:cNvSpPr/>
          <p:nvPr/>
        </p:nvSpPr>
        <p:spPr>
          <a:xfrm flipH="false" flipV="false" rot="0">
            <a:off x="589560" y="1466616"/>
            <a:ext cx="1112030" cy="1140544"/>
          </a:xfrm>
          <a:custGeom>
            <a:avLst/>
            <a:gdLst/>
            <a:ahLst/>
            <a:cxnLst/>
            <a:rect r="r" b="b" t="t" l="l"/>
            <a:pathLst>
              <a:path h="1140544" w="1112030">
                <a:moveTo>
                  <a:pt x="0" y="0"/>
                </a:moveTo>
                <a:lnTo>
                  <a:pt x="1112030" y="0"/>
                </a:lnTo>
                <a:lnTo>
                  <a:pt x="1112030" y="1140544"/>
                </a:lnTo>
                <a:lnTo>
                  <a:pt x="0" y="1140544"/>
                </a:lnTo>
                <a:lnTo>
                  <a:pt x="0" y="0"/>
                </a:lnTo>
                <a:close/>
              </a:path>
            </a:pathLst>
          </a:custGeom>
          <a:blipFill>
            <a:blip r:embed="rId5"/>
            <a:stretch>
              <a:fillRect l="0" t="0" r="0" b="0"/>
            </a:stretch>
          </a:blipFill>
        </p:spPr>
      </p:sp>
      <p:sp>
        <p:nvSpPr>
          <p:cNvPr name="Freeform 8" id="8"/>
          <p:cNvSpPr/>
          <p:nvPr/>
        </p:nvSpPr>
        <p:spPr>
          <a:xfrm flipH="false" flipV="false" rot="-941928">
            <a:off x="2953672" y="-218611"/>
            <a:ext cx="835498" cy="1602074"/>
          </a:xfrm>
          <a:custGeom>
            <a:avLst/>
            <a:gdLst/>
            <a:ahLst/>
            <a:cxnLst/>
            <a:rect r="r" b="b" t="t" l="l"/>
            <a:pathLst>
              <a:path h="1602074" w="835498">
                <a:moveTo>
                  <a:pt x="0" y="0"/>
                </a:moveTo>
                <a:lnTo>
                  <a:pt x="835498" y="0"/>
                </a:lnTo>
                <a:lnTo>
                  <a:pt x="835498" y="1602073"/>
                </a:lnTo>
                <a:lnTo>
                  <a:pt x="0" y="1602073"/>
                </a:lnTo>
                <a:lnTo>
                  <a:pt x="0" y="0"/>
                </a:lnTo>
                <a:close/>
              </a:path>
            </a:pathLst>
          </a:custGeom>
          <a:blipFill>
            <a:blip r:embed="rId6"/>
            <a:stretch>
              <a:fillRect l="0" t="0" r="0" b="0"/>
            </a:stretch>
          </a:blipFill>
        </p:spPr>
      </p:sp>
      <p:sp>
        <p:nvSpPr>
          <p:cNvPr name="Freeform 9" id="9"/>
          <p:cNvSpPr/>
          <p:nvPr/>
        </p:nvSpPr>
        <p:spPr>
          <a:xfrm flipH="false" flipV="false" rot="0">
            <a:off x="-281892" y="6881003"/>
            <a:ext cx="989057" cy="931554"/>
          </a:xfrm>
          <a:custGeom>
            <a:avLst/>
            <a:gdLst/>
            <a:ahLst/>
            <a:cxnLst/>
            <a:rect r="r" b="b" t="t" l="l"/>
            <a:pathLst>
              <a:path h="931554" w="989057">
                <a:moveTo>
                  <a:pt x="0" y="0"/>
                </a:moveTo>
                <a:lnTo>
                  <a:pt x="989058" y="0"/>
                </a:lnTo>
                <a:lnTo>
                  <a:pt x="989058" y="931554"/>
                </a:lnTo>
                <a:lnTo>
                  <a:pt x="0" y="931554"/>
                </a:lnTo>
                <a:lnTo>
                  <a:pt x="0" y="0"/>
                </a:lnTo>
                <a:close/>
              </a:path>
            </a:pathLst>
          </a:custGeom>
          <a:blipFill>
            <a:blip r:embed="rId7"/>
            <a:stretch>
              <a:fillRect l="0" t="0" r="0" b="0"/>
            </a:stretch>
          </a:blipFill>
        </p:spPr>
      </p:sp>
      <p:sp>
        <p:nvSpPr>
          <p:cNvPr name="Freeform 10" id="10"/>
          <p:cNvSpPr/>
          <p:nvPr/>
        </p:nvSpPr>
        <p:spPr>
          <a:xfrm flipH="false" flipV="false" rot="0">
            <a:off x="16728581" y="7280319"/>
            <a:ext cx="1061438" cy="1261123"/>
          </a:xfrm>
          <a:custGeom>
            <a:avLst/>
            <a:gdLst/>
            <a:ahLst/>
            <a:cxnLst/>
            <a:rect r="r" b="b" t="t" l="l"/>
            <a:pathLst>
              <a:path h="1261123" w="1061438">
                <a:moveTo>
                  <a:pt x="0" y="0"/>
                </a:moveTo>
                <a:lnTo>
                  <a:pt x="1061438" y="0"/>
                </a:lnTo>
                <a:lnTo>
                  <a:pt x="1061438" y="1261123"/>
                </a:lnTo>
                <a:lnTo>
                  <a:pt x="0" y="1261123"/>
                </a:lnTo>
                <a:lnTo>
                  <a:pt x="0" y="0"/>
                </a:lnTo>
                <a:close/>
              </a:path>
            </a:pathLst>
          </a:custGeom>
          <a:blipFill>
            <a:blip r:embed="rId8"/>
            <a:stretch>
              <a:fillRect l="0" t="0" r="0" b="0"/>
            </a:stretch>
          </a:blipFill>
        </p:spPr>
      </p:sp>
      <p:sp>
        <p:nvSpPr>
          <p:cNvPr name="Freeform 11" id="11"/>
          <p:cNvSpPr/>
          <p:nvPr/>
        </p:nvSpPr>
        <p:spPr>
          <a:xfrm flipH="false" flipV="false" rot="0">
            <a:off x="14484896" y="-418069"/>
            <a:ext cx="850955" cy="836137"/>
          </a:xfrm>
          <a:custGeom>
            <a:avLst/>
            <a:gdLst/>
            <a:ahLst/>
            <a:cxnLst/>
            <a:rect r="r" b="b" t="t" l="l"/>
            <a:pathLst>
              <a:path h="836137" w="850955">
                <a:moveTo>
                  <a:pt x="0" y="0"/>
                </a:moveTo>
                <a:lnTo>
                  <a:pt x="850955" y="0"/>
                </a:lnTo>
                <a:lnTo>
                  <a:pt x="850955" y="836138"/>
                </a:lnTo>
                <a:lnTo>
                  <a:pt x="0" y="836138"/>
                </a:lnTo>
                <a:lnTo>
                  <a:pt x="0" y="0"/>
                </a:lnTo>
                <a:close/>
              </a:path>
            </a:pathLst>
          </a:custGeom>
          <a:blipFill>
            <a:blip r:embed="rId9"/>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110623"/>
        </a:solidFill>
      </p:bgPr>
    </p:bg>
    <p:spTree>
      <p:nvGrpSpPr>
        <p:cNvPr id="1" name=""/>
        <p:cNvGrpSpPr/>
        <p:nvPr/>
      </p:nvGrpSpPr>
      <p:grpSpPr>
        <a:xfrm>
          <a:off x="0" y="0"/>
          <a:ext cx="0" cy="0"/>
          <a:chOff x="0" y="0"/>
          <a:chExt cx="0" cy="0"/>
        </a:xfrm>
      </p:grpSpPr>
      <p:sp>
        <p:nvSpPr>
          <p:cNvPr name="Freeform 2" id="2"/>
          <p:cNvSpPr/>
          <p:nvPr/>
        </p:nvSpPr>
        <p:spPr>
          <a:xfrm flipH="false" flipV="false" rot="0">
            <a:off x="13481809" y="5143500"/>
            <a:ext cx="7674102" cy="8229600"/>
          </a:xfrm>
          <a:custGeom>
            <a:avLst/>
            <a:gdLst/>
            <a:ahLst/>
            <a:cxnLst/>
            <a:rect r="r" b="b" t="t" l="l"/>
            <a:pathLst>
              <a:path h="8229600" w="7674102">
                <a:moveTo>
                  <a:pt x="0" y="0"/>
                </a:moveTo>
                <a:lnTo>
                  <a:pt x="7674102" y="0"/>
                </a:lnTo>
                <a:lnTo>
                  <a:pt x="7674102" y="8229600"/>
                </a:lnTo>
                <a:lnTo>
                  <a:pt x="0" y="8229600"/>
                </a:lnTo>
                <a:lnTo>
                  <a:pt x="0" y="0"/>
                </a:lnTo>
                <a:close/>
              </a:path>
            </a:pathLst>
          </a:custGeom>
          <a:blipFill>
            <a:blip r:embed="rId2"/>
            <a:stretch>
              <a:fillRect l="0" t="0" r="0" b="0"/>
            </a:stretch>
          </a:blipFill>
        </p:spPr>
      </p:sp>
      <p:sp>
        <p:nvSpPr>
          <p:cNvPr name="Freeform 3" id="3"/>
          <p:cNvSpPr/>
          <p:nvPr/>
        </p:nvSpPr>
        <p:spPr>
          <a:xfrm flipH="false" flipV="false" rot="-5314299">
            <a:off x="-2913316" y="6627666"/>
            <a:ext cx="6654437" cy="6446486"/>
          </a:xfrm>
          <a:custGeom>
            <a:avLst/>
            <a:gdLst/>
            <a:ahLst/>
            <a:cxnLst/>
            <a:rect r="r" b="b" t="t" l="l"/>
            <a:pathLst>
              <a:path h="6446486" w="6654437">
                <a:moveTo>
                  <a:pt x="0" y="0"/>
                </a:moveTo>
                <a:lnTo>
                  <a:pt x="6654436" y="0"/>
                </a:lnTo>
                <a:lnTo>
                  <a:pt x="6654436" y="6446485"/>
                </a:lnTo>
                <a:lnTo>
                  <a:pt x="0" y="6446485"/>
                </a:lnTo>
                <a:lnTo>
                  <a:pt x="0" y="0"/>
                </a:lnTo>
                <a:close/>
              </a:path>
            </a:pathLst>
          </a:custGeom>
          <a:blipFill>
            <a:blip r:embed="rId3"/>
            <a:stretch>
              <a:fillRect l="0" t="0" r="0" b="0"/>
            </a:stretch>
          </a:blipFill>
        </p:spPr>
      </p:sp>
      <p:sp>
        <p:nvSpPr>
          <p:cNvPr name="TextBox 4" id="4"/>
          <p:cNvSpPr txBox="true"/>
          <p:nvPr/>
        </p:nvSpPr>
        <p:spPr>
          <a:xfrm rot="0">
            <a:off x="3389944" y="1705349"/>
            <a:ext cx="10490895" cy="660241"/>
          </a:xfrm>
          <a:prstGeom prst="rect">
            <a:avLst/>
          </a:prstGeom>
        </p:spPr>
        <p:txBody>
          <a:bodyPr anchor="t" rtlCol="false" tIns="0" lIns="0" bIns="0" rIns="0">
            <a:spAutoFit/>
          </a:bodyPr>
          <a:lstStyle/>
          <a:p>
            <a:pPr algn="ctr">
              <a:lnSpc>
                <a:spcPts val="5241"/>
              </a:lnSpc>
            </a:pPr>
            <a:r>
              <a:rPr lang="en-US" sz="4200">
                <a:solidFill>
                  <a:srgbClr val="FFFFFF"/>
                </a:solidFill>
                <a:latin typeface="Mokoto"/>
                <a:ea typeface="Mokoto"/>
                <a:cs typeface="Mokoto"/>
                <a:sym typeface="Mokoto"/>
              </a:rPr>
              <a:t>ARSITEKTUR MODEL</a:t>
            </a:r>
          </a:p>
        </p:txBody>
      </p:sp>
      <p:sp>
        <p:nvSpPr>
          <p:cNvPr name="TextBox 5" id="5"/>
          <p:cNvSpPr txBox="true"/>
          <p:nvPr/>
        </p:nvSpPr>
        <p:spPr>
          <a:xfrm rot="0">
            <a:off x="3389944" y="3152234"/>
            <a:ext cx="9991087" cy="6546189"/>
          </a:xfrm>
          <a:prstGeom prst="rect">
            <a:avLst/>
          </a:prstGeom>
        </p:spPr>
        <p:txBody>
          <a:bodyPr anchor="t" rtlCol="false" tIns="0" lIns="0" bIns="0" rIns="0">
            <a:spAutoFit/>
          </a:bodyPr>
          <a:lstStyle/>
          <a:p>
            <a:pPr algn="ctr">
              <a:lnSpc>
                <a:spcPts val="3499"/>
              </a:lnSpc>
            </a:pPr>
            <a:r>
              <a:rPr lang="en-US" sz="2499">
                <a:solidFill>
                  <a:srgbClr val="FFFFFF"/>
                </a:solidFill>
                <a:latin typeface="Montserrat"/>
                <a:ea typeface="Montserrat"/>
                <a:cs typeface="Montserrat"/>
                <a:sym typeface="Montserrat"/>
              </a:rPr>
              <a:t>Arsitektur CycleGAN terdiri dari dua komponen utama, yaitu Generator dan Discriminator, yang bekerja secara bersamaan untuk mentransformasikan gambar. Model ini melakukan konversi dua arah antara foto pemandangan dan lukisan Monet.</a:t>
            </a:r>
          </a:p>
          <a:p>
            <a:pPr algn="ctr">
              <a:lnSpc>
                <a:spcPts val="3499"/>
              </a:lnSpc>
            </a:pPr>
            <a:r>
              <a:rPr lang="en-US" sz="2499">
                <a:solidFill>
                  <a:srgbClr val="FFFFFF"/>
                </a:solidFill>
                <a:latin typeface="Montserrat"/>
                <a:ea typeface="Montserrat"/>
                <a:cs typeface="Montserrat"/>
                <a:sym typeface="Montserrat"/>
              </a:rPr>
              <a:t>Generator menggunakan arsitektur ResNet dengan 6 blok residual. Residual block membantu menjaga struktur penting pada gambar asli, sehingga bentuk objek seperti rumah dan pohon tetap terlihat jelas meskipun gaya visualnya berubah.</a:t>
            </a:r>
          </a:p>
          <a:p>
            <a:pPr algn="ctr">
              <a:lnSpc>
                <a:spcPts val="3499"/>
              </a:lnSpc>
            </a:pPr>
            <a:r>
              <a:rPr lang="en-US" sz="2499">
                <a:solidFill>
                  <a:srgbClr val="FFFFFF"/>
                </a:solidFill>
                <a:latin typeface="Montserrat"/>
                <a:ea typeface="Montserrat"/>
                <a:cs typeface="Montserrat"/>
                <a:sym typeface="Montserrat"/>
              </a:rPr>
              <a:t>Discriminator menggunakan PatchGAN, yang menilai keaslian gambar berdasarkan bagian-bagian kecil (patch). Pendekatan ini membuat model lebih fokus pada tekstur dan detail sapuan kuas khas lukisan Monet, sehingga hasil terlihat lebih realistis.</a:t>
            </a:r>
          </a:p>
          <a:p>
            <a:pPr algn="ctr">
              <a:lnSpc>
                <a:spcPts val="3499"/>
              </a:lnSpc>
            </a:pPr>
          </a:p>
        </p:txBody>
      </p:sp>
      <p:sp>
        <p:nvSpPr>
          <p:cNvPr name="Freeform 6" id="6"/>
          <p:cNvSpPr/>
          <p:nvPr/>
        </p:nvSpPr>
        <p:spPr>
          <a:xfrm flipH="false" flipV="false" rot="1392916">
            <a:off x="6150824" y="9543846"/>
            <a:ext cx="1032424" cy="1155160"/>
          </a:xfrm>
          <a:custGeom>
            <a:avLst/>
            <a:gdLst/>
            <a:ahLst/>
            <a:cxnLst/>
            <a:rect r="r" b="b" t="t" l="l"/>
            <a:pathLst>
              <a:path h="1155160" w="1032424">
                <a:moveTo>
                  <a:pt x="0" y="0"/>
                </a:moveTo>
                <a:lnTo>
                  <a:pt x="1032424" y="0"/>
                </a:lnTo>
                <a:lnTo>
                  <a:pt x="1032424" y="1155160"/>
                </a:lnTo>
                <a:lnTo>
                  <a:pt x="0" y="1155160"/>
                </a:lnTo>
                <a:lnTo>
                  <a:pt x="0" y="0"/>
                </a:lnTo>
                <a:close/>
              </a:path>
            </a:pathLst>
          </a:custGeom>
          <a:blipFill>
            <a:blip r:embed="rId4"/>
            <a:stretch>
              <a:fillRect l="0" t="0" r="0" b="0"/>
            </a:stretch>
          </a:blipFill>
        </p:spPr>
      </p:sp>
      <p:sp>
        <p:nvSpPr>
          <p:cNvPr name="Freeform 7" id="7"/>
          <p:cNvSpPr/>
          <p:nvPr/>
        </p:nvSpPr>
        <p:spPr>
          <a:xfrm flipH="false" flipV="false" rot="-1600701">
            <a:off x="221424" y="-240730"/>
            <a:ext cx="1207461" cy="1277736"/>
          </a:xfrm>
          <a:custGeom>
            <a:avLst/>
            <a:gdLst/>
            <a:ahLst/>
            <a:cxnLst/>
            <a:rect r="r" b="b" t="t" l="l"/>
            <a:pathLst>
              <a:path h="1277736" w="1207461">
                <a:moveTo>
                  <a:pt x="0" y="0"/>
                </a:moveTo>
                <a:lnTo>
                  <a:pt x="1207460" y="0"/>
                </a:lnTo>
                <a:lnTo>
                  <a:pt x="1207460" y="1277736"/>
                </a:lnTo>
                <a:lnTo>
                  <a:pt x="0" y="1277736"/>
                </a:lnTo>
                <a:lnTo>
                  <a:pt x="0" y="0"/>
                </a:lnTo>
                <a:close/>
              </a:path>
            </a:pathLst>
          </a:custGeom>
          <a:blipFill>
            <a:blip r:embed="rId5"/>
            <a:stretch>
              <a:fillRect l="0" t="0" r="0" b="0"/>
            </a:stretch>
          </a:blipFill>
        </p:spPr>
      </p:sp>
      <p:sp>
        <p:nvSpPr>
          <p:cNvPr name="Freeform 8" id="8"/>
          <p:cNvSpPr/>
          <p:nvPr/>
        </p:nvSpPr>
        <p:spPr>
          <a:xfrm flipH="false" flipV="false" rot="1558470">
            <a:off x="14532736" y="3686556"/>
            <a:ext cx="797660" cy="847448"/>
          </a:xfrm>
          <a:custGeom>
            <a:avLst/>
            <a:gdLst/>
            <a:ahLst/>
            <a:cxnLst/>
            <a:rect r="r" b="b" t="t" l="l"/>
            <a:pathLst>
              <a:path h="847448" w="797660">
                <a:moveTo>
                  <a:pt x="0" y="0"/>
                </a:moveTo>
                <a:lnTo>
                  <a:pt x="797660" y="0"/>
                </a:lnTo>
                <a:lnTo>
                  <a:pt x="797660" y="847447"/>
                </a:lnTo>
                <a:lnTo>
                  <a:pt x="0" y="847447"/>
                </a:lnTo>
                <a:lnTo>
                  <a:pt x="0" y="0"/>
                </a:lnTo>
                <a:close/>
              </a:path>
            </a:pathLst>
          </a:custGeom>
          <a:blipFill>
            <a:blip r:embed="rId6"/>
            <a:stretch>
              <a:fillRect l="0" t="0" r="0" b="0"/>
            </a:stretch>
          </a:blipFill>
        </p:spPr>
      </p:sp>
      <p:sp>
        <p:nvSpPr>
          <p:cNvPr name="Freeform 9" id="9"/>
          <p:cNvSpPr/>
          <p:nvPr/>
        </p:nvSpPr>
        <p:spPr>
          <a:xfrm flipH="false" flipV="false" rot="0">
            <a:off x="825154" y="6176370"/>
            <a:ext cx="878280" cy="827217"/>
          </a:xfrm>
          <a:custGeom>
            <a:avLst/>
            <a:gdLst/>
            <a:ahLst/>
            <a:cxnLst/>
            <a:rect r="r" b="b" t="t" l="l"/>
            <a:pathLst>
              <a:path h="827217" w="878280">
                <a:moveTo>
                  <a:pt x="0" y="0"/>
                </a:moveTo>
                <a:lnTo>
                  <a:pt x="878280" y="0"/>
                </a:lnTo>
                <a:lnTo>
                  <a:pt x="878280" y="827217"/>
                </a:lnTo>
                <a:lnTo>
                  <a:pt x="0" y="827217"/>
                </a:lnTo>
                <a:lnTo>
                  <a:pt x="0" y="0"/>
                </a:lnTo>
                <a:close/>
              </a:path>
            </a:pathLst>
          </a:custGeom>
          <a:blipFill>
            <a:blip r:embed="rId7"/>
            <a:stretch>
              <a:fillRect l="0" t="0" r="0" b="0"/>
            </a:stretch>
          </a:blipFill>
        </p:spPr>
      </p:sp>
      <p:sp>
        <p:nvSpPr>
          <p:cNvPr name="Freeform 10" id="10"/>
          <p:cNvSpPr/>
          <p:nvPr/>
        </p:nvSpPr>
        <p:spPr>
          <a:xfrm flipH="false" flipV="false" rot="0">
            <a:off x="17065395" y="-443780"/>
            <a:ext cx="1061438" cy="1261123"/>
          </a:xfrm>
          <a:custGeom>
            <a:avLst/>
            <a:gdLst/>
            <a:ahLst/>
            <a:cxnLst/>
            <a:rect r="r" b="b" t="t" l="l"/>
            <a:pathLst>
              <a:path h="1261123" w="1061438">
                <a:moveTo>
                  <a:pt x="0" y="0"/>
                </a:moveTo>
                <a:lnTo>
                  <a:pt x="1061438" y="0"/>
                </a:lnTo>
                <a:lnTo>
                  <a:pt x="1061438" y="1261123"/>
                </a:lnTo>
                <a:lnTo>
                  <a:pt x="0" y="1261123"/>
                </a:lnTo>
                <a:lnTo>
                  <a:pt x="0" y="0"/>
                </a:lnTo>
                <a:close/>
              </a:path>
            </a:pathLst>
          </a:custGeom>
          <a:blipFill>
            <a:blip r:embed="rId8"/>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110623"/>
        </a:solidFill>
      </p:bgPr>
    </p:bg>
    <p:spTree>
      <p:nvGrpSpPr>
        <p:cNvPr id="1" name=""/>
        <p:cNvGrpSpPr/>
        <p:nvPr/>
      </p:nvGrpSpPr>
      <p:grpSpPr>
        <a:xfrm>
          <a:off x="0" y="0"/>
          <a:ext cx="0" cy="0"/>
          <a:chOff x="0" y="0"/>
          <a:chExt cx="0" cy="0"/>
        </a:xfrm>
      </p:grpSpPr>
      <p:sp>
        <p:nvSpPr>
          <p:cNvPr name="TextBox 2" id="2"/>
          <p:cNvSpPr txBox="true"/>
          <p:nvPr/>
        </p:nvSpPr>
        <p:spPr>
          <a:xfrm rot="0">
            <a:off x="3952357" y="3544970"/>
            <a:ext cx="10681792" cy="5713330"/>
          </a:xfrm>
          <a:prstGeom prst="rect">
            <a:avLst/>
          </a:prstGeom>
        </p:spPr>
        <p:txBody>
          <a:bodyPr anchor="t" rtlCol="false" tIns="0" lIns="0" bIns="0" rIns="0">
            <a:spAutoFit/>
          </a:bodyPr>
          <a:lstStyle/>
          <a:p>
            <a:pPr algn="ctr">
              <a:lnSpc>
                <a:spcPts val="3574"/>
              </a:lnSpc>
            </a:pPr>
            <a:r>
              <a:rPr lang="en-US" sz="2552">
                <a:solidFill>
                  <a:srgbClr val="FFFFFF"/>
                </a:solidFill>
                <a:latin typeface="Montserrat"/>
                <a:ea typeface="Montserrat"/>
                <a:cs typeface="Montserrat"/>
                <a:sym typeface="Montserrat"/>
              </a:rPr>
              <a:t>Generator pada model CycleGAN menggunakan arsitektur ResNet dengan 6 blok residual yang berfungsi menjaga struktur objek asli seperti rumah dan pepohonan agar tidak rusak saat gaya gambar diubah. Discriminator menggunakan PatchGAN yang fokus menilai keaslian tekstur pada bagian-bagian kecil gambar, sehingga sapuan kuas dan warna khas lukisan Monet terlihat lebih realistis.</a:t>
            </a:r>
          </a:p>
          <a:p>
            <a:pPr algn="ctr">
              <a:lnSpc>
                <a:spcPts val="3574"/>
              </a:lnSpc>
            </a:pPr>
            <a:r>
              <a:rPr lang="en-US" sz="2552">
                <a:solidFill>
                  <a:srgbClr val="FFFFFF"/>
                </a:solidFill>
                <a:latin typeface="Montserrat"/>
                <a:ea typeface="Montserrat"/>
                <a:cs typeface="Montserrat"/>
                <a:sym typeface="Montserrat"/>
              </a:rPr>
              <a:t>Proses pembelajaran model menggunakan GAN Loss untuk menyesuaikan gaya lukisan dan Cycle Consistency Loss untuk memastikan bentuk gambar tetap konsi</a:t>
            </a:r>
            <a:r>
              <a:rPr lang="en-US" sz="2552">
                <a:solidFill>
                  <a:srgbClr val="FFFFFF"/>
                </a:solidFill>
                <a:latin typeface="Montserrat"/>
                <a:ea typeface="Montserrat"/>
                <a:cs typeface="Montserrat"/>
                <a:sym typeface="Montserrat"/>
              </a:rPr>
              <a:t>sten. Model dilatih menggunakan Adam Optimizer selama 100 epoch agar hasil transformasi semakin stabil.</a:t>
            </a:r>
          </a:p>
          <a:p>
            <a:pPr algn="ctr">
              <a:lnSpc>
                <a:spcPts val="3574"/>
              </a:lnSpc>
            </a:pPr>
          </a:p>
        </p:txBody>
      </p:sp>
      <p:sp>
        <p:nvSpPr>
          <p:cNvPr name="TextBox 3" id="3"/>
          <p:cNvSpPr txBox="true"/>
          <p:nvPr/>
        </p:nvSpPr>
        <p:spPr>
          <a:xfrm rot="0">
            <a:off x="2752511" y="1611389"/>
            <a:ext cx="12383702" cy="1364011"/>
          </a:xfrm>
          <a:prstGeom prst="rect">
            <a:avLst/>
          </a:prstGeom>
        </p:spPr>
        <p:txBody>
          <a:bodyPr anchor="t" rtlCol="false" tIns="0" lIns="0" bIns="0" rIns="0">
            <a:spAutoFit/>
          </a:bodyPr>
          <a:lstStyle/>
          <a:p>
            <a:pPr algn="ctr">
              <a:lnSpc>
                <a:spcPts val="5391"/>
              </a:lnSpc>
            </a:pPr>
            <a:r>
              <a:rPr lang="en-US" sz="4319">
                <a:solidFill>
                  <a:srgbClr val="FFFFFF"/>
                </a:solidFill>
                <a:latin typeface="Mokoto"/>
                <a:ea typeface="Mokoto"/>
                <a:cs typeface="Mokoto"/>
                <a:sym typeface="Mokoto"/>
              </a:rPr>
              <a:t>GENERATOR, DISCRIMINATOR, TRAINING</a:t>
            </a:r>
          </a:p>
        </p:txBody>
      </p:sp>
      <p:sp>
        <p:nvSpPr>
          <p:cNvPr name="Freeform 4" id="4"/>
          <p:cNvSpPr/>
          <p:nvPr/>
        </p:nvSpPr>
        <p:spPr>
          <a:xfrm flipH="false" flipV="false" rot="1392916">
            <a:off x="1122500" y="9165956"/>
            <a:ext cx="1158181" cy="1295867"/>
          </a:xfrm>
          <a:custGeom>
            <a:avLst/>
            <a:gdLst/>
            <a:ahLst/>
            <a:cxnLst/>
            <a:rect r="r" b="b" t="t" l="l"/>
            <a:pathLst>
              <a:path h="1295867" w="1158181">
                <a:moveTo>
                  <a:pt x="0" y="0"/>
                </a:moveTo>
                <a:lnTo>
                  <a:pt x="1158180" y="0"/>
                </a:lnTo>
                <a:lnTo>
                  <a:pt x="1158180" y="1295867"/>
                </a:lnTo>
                <a:lnTo>
                  <a:pt x="0" y="1295867"/>
                </a:lnTo>
                <a:lnTo>
                  <a:pt x="0" y="0"/>
                </a:lnTo>
                <a:close/>
              </a:path>
            </a:pathLst>
          </a:custGeom>
          <a:blipFill>
            <a:blip r:embed="rId2"/>
            <a:stretch>
              <a:fillRect l="0" t="0" r="0" b="0"/>
            </a:stretch>
          </a:blipFill>
        </p:spPr>
      </p:sp>
      <p:sp>
        <p:nvSpPr>
          <p:cNvPr name="Freeform 5" id="5"/>
          <p:cNvSpPr/>
          <p:nvPr/>
        </p:nvSpPr>
        <p:spPr>
          <a:xfrm flipH="false" flipV="false" rot="-1600701">
            <a:off x="16124851" y="1494613"/>
            <a:ext cx="1207461" cy="1277736"/>
          </a:xfrm>
          <a:custGeom>
            <a:avLst/>
            <a:gdLst/>
            <a:ahLst/>
            <a:cxnLst/>
            <a:rect r="r" b="b" t="t" l="l"/>
            <a:pathLst>
              <a:path h="1277736" w="1207461">
                <a:moveTo>
                  <a:pt x="0" y="0"/>
                </a:moveTo>
                <a:lnTo>
                  <a:pt x="1207460" y="0"/>
                </a:lnTo>
                <a:lnTo>
                  <a:pt x="1207460" y="1277736"/>
                </a:lnTo>
                <a:lnTo>
                  <a:pt x="0" y="1277736"/>
                </a:lnTo>
                <a:lnTo>
                  <a:pt x="0" y="0"/>
                </a:lnTo>
                <a:close/>
              </a:path>
            </a:pathLst>
          </a:custGeom>
          <a:blipFill>
            <a:blip r:embed="rId3"/>
            <a:stretch>
              <a:fillRect l="0" t="0" r="0" b="0"/>
            </a:stretch>
          </a:blipFill>
        </p:spPr>
      </p:sp>
      <p:sp>
        <p:nvSpPr>
          <p:cNvPr name="Freeform 6" id="6"/>
          <p:cNvSpPr/>
          <p:nvPr/>
        </p:nvSpPr>
        <p:spPr>
          <a:xfrm flipH="false" flipV="false" rot="1558470">
            <a:off x="15116074" y="9445005"/>
            <a:ext cx="1129301" cy="1199788"/>
          </a:xfrm>
          <a:custGeom>
            <a:avLst/>
            <a:gdLst/>
            <a:ahLst/>
            <a:cxnLst/>
            <a:rect r="r" b="b" t="t" l="l"/>
            <a:pathLst>
              <a:path h="1199788" w="1129301">
                <a:moveTo>
                  <a:pt x="0" y="0"/>
                </a:moveTo>
                <a:lnTo>
                  <a:pt x="1129301" y="0"/>
                </a:lnTo>
                <a:lnTo>
                  <a:pt x="1129301" y="1199788"/>
                </a:lnTo>
                <a:lnTo>
                  <a:pt x="0" y="1199788"/>
                </a:lnTo>
                <a:lnTo>
                  <a:pt x="0" y="0"/>
                </a:lnTo>
                <a:close/>
              </a:path>
            </a:pathLst>
          </a:custGeom>
          <a:blipFill>
            <a:blip r:embed="rId4"/>
            <a:stretch>
              <a:fillRect l="0" t="0" r="0" b="0"/>
            </a:stretch>
          </a:blipFill>
        </p:spPr>
      </p:sp>
      <p:sp>
        <p:nvSpPr>
          <p:cNvPr name="Freeform 7" id="7"/>
          <p:cNvSpPr/>
          <p:nvPr/>
        </p:nvSpPr>
        <p:spPr>
          <a:xfrm flipH="false" flipV="false" rot="0">
            <a:off x="589560" y="1466616"/>
            <a:ext cx="1112030" cy="1140544"/>
          </a:xfrm>
          <a:custGeom>
            <a:avLst/>
            <a:gdLst/>
            <a:ahLst/>
            <a:cxnLst/>
            <a:rect r="r" b="b" t="t" l="l"/>
            <a:pathLst>
              <a:path h="1140544" w="1112030">
                <a:moveTo>
                  <a:pt x="0" y="0"/>
                </a:moveTo>
                <a:lnTo>
                  <a:pt x="1112030" y="0"/>
                </a:lnTo>
                <a:lnTo>
                  <a:pt x="1112030" y="1140544"/>
                </a:lnTo>
                <a:lnTo>
                  <a:pt x="0" y="1140544"/>
                </a:lnTo>
                <a:lnTo>
                  <a:pt x="0" y="0"/>
                </a:lnTo>
                <a:close/>
              </a:path>
            </a:pathLst>
          </a:custGeom>
          <a:blipFill>
            <a:blip r:embed="rId5"/>
            <a:stretch>
              <a:fillRect l="0" t="0" r="0" b="0"/>
            </a:stretch>
          </a:blipFill>
        </p:spPr>
      </p:sp>
      <p:sp>
        <p:nvSpPr>
          <p:cNvPr name="Freeform 8" id="8"/>
          <p:cNvSpPr/>
          <p:nvPr/>
        </p:nvSpPr>
        <p:spPr>
          <a:xfrm flipH="false" flipV="false" rot="-941928">
            <a:off x="2953672" y="-218611"/>
            <a:ext cx="835498" cy="1602074"/>
          </a:xfrm>
          <a:custGeom>
            <a:avLst/>
            <a:gdLst/>
            <a:ahLst/>
            <a:cxnLst/>
            <a:rect r="r" b="b" t="t" l="l"/>
            <a:pathLst>
              <a:path h="1602074" w="835498">
                <a:moveTo>
                  <a:pt x="0" y="0"/>
                </a:moveTo>
                <a:lnTo>
                  <a:pt x="835498" y="0"/>
                </a:lnTo>
                <a:lnTo>
                  <a:pt x="835498" y="1602073"/>
                </a:lnTo>
                <a:lnTo>
                  <a:pt x="0" y="1602073"/>
                </a:lnTo>
                <a:lnTo>
                  <a:pt x="0" y="0"/>
                </a:lnTo>
                <a:close/>
              </a:path>
            </a:pathLst>
          </a:custGeom>
          <a:blipFill>
            <a:blip r:embed="rId6"/>
            <a:stretch>
              <a:fillRect l="0" t="0" r="0" b="0"/>
            </a:stretch>
          </a:blipFill>
        </p:spPr>
      </p:sp>
      <p:sp>
        <p:nvSpPr>
          <p:cNvPr name="Freeform 9" id="9"/>
          <p:cNvSpPr/>
          <p:nvPr/>
        </p:nvSpPr>
        <p:spPr>
          <a:xfrm flipH="false" flipV="false" rot="0">
            <a:off x="-281892" y="6881003"/>
            <a:ext cx="989057" cy="931554"/>
          </a:xfrm>
          <a:custGeom>
            <a:avLst/>
            <a:gdLst/>
            <a:ahLst/>
            <a:cxnLst/>
            <a:rect r="r" b="b" t="t" l="l"/>
            <a:pathLst>
              <a:path h="931554" w="989057">
                <a:moveTo>
                  <a:pt x="0" y="0"/>
                </a:moveTo>
                <a:lnTo>
                  <a:pt x="989058" y="0"/>
                </a:lnTo>
                <a:lnTo>
                  <a:pt x="989058" y="931554"/>
                </a:lnTo>
                <a:lnTo>
                  <a:pt x="0" y="931554"/>
                </a:lnTo>
                <a:lnTo>
                  <a:pt x="0" y="0"/>
                </a:lnTo>
                <a:close/>
              </a:path>
            </a:pathLst>
          </a:custGeom>
          <a:blipFill>
            <a:blip r:embed="rId7"/>
            <a:stretch>
              <a:fillRect l="0" t="0" r="0" b="0"/>
            </a:stretch>
          </a:blipFill>
        </p:spPr>
      </p:sp>
      <p:sp>
        <p:nvSpPr>
          <p:cNvPr name="Freeform 10" id="10"/>
          <p:cNvSpPr/>
          <p:nvPr/>
        </p:nvSpPr>
        <p:spPr>
          <a:xfrm flipH="false" flipV="false" rot="0">
            <a:off x="16728581" y="7280319"/>
            <a:ext cx="1061438" cy="1261123"/>
          </a:xfrm>
          <a:custGeom>
            <a:avLst/>
            <a:gdLst/>
            <a:ahLst/>
            <a:cxnLst/>
            <a:rect r="r" b="b" t="t" l="l"/>
            <a:pathLst>
              <a:path h="1261123" w="1061438">
                <a:moveTo>
                  <a:pt x="0" y="0"/>
                </a:moveTo>
                <a:lnTo>
                  <a:pt x="1061438" y="0"/>
                </a:lnTo>
                <a:lnTo>
                  <a:pt x="1061438" y="1261123"/>
                </a:lnTo>
                <a:lnTo>
                  <a:pt x="0" y="1261123"/>
                </a:lnTo>
                <a:lnTo>
                  <a:pt x="0" y="0"/>
                </a:lnTo>
                <a:close/>
              </a:path>
            </a:pathLst>
          </a:custGeom>
          <a:blipFill>
            <a:blip r:embed="rId8"/>
            <a:stretch>
              <a:fillRect l="0" t="0" r="0" b="0"/>
            </a:stretch>
          </a:blipFill>
        </p:spPr>
      </p:sp>
      <p:sp>
        <p:nvSpPr>
          <p:cNvPr name="Freeform 11" id="11"/>
          <p:cNvSpPr/>
          <p:nvPr/>
        </p:nvSpPr>
        <p:spPr>
          <a:xfrm flipH="false" flipV="false" rot="0">
            <a:off x="14484896" y="-418069"/>
            <a:ext cx="850955" cy="836137"/>
          </a:xfrm>
          <a:custGeom>
            <a:avLst/>
            <a:gdLst/>
            <a:ahLst/>
            <a:cxnLst/>
            <a:rect r="r" b="b" t="t" l="l"/>
            <a:pathLst>
              <a:path h="836137" w="850955">
                <a:moveTo>
                  <a:pt x="0" y="0"/>
                </a:moveTo>
                <a:lnTo>
                  <a:pt x="850955" y="0"/>
                </a:lnTo>
                <a:lnTo>
                  <a:pt x="850955" y="836138"/>
                </a:lnTo>
                <a:lnTo>
                  <a:pt x="0" y="836138"/>
                </a:lnTo>
                <a:lnTo>
                  <a:pt x="0" y="0"/>
                </a:lnTo>
                <a:close/>
              </a:path>
            </a:pathLst>
          </a:custGeom>
          <a:blipFill>
            <a:blip r:embed="rId9"/>
            <a:stretch>
              <a:fillRect l="0" t="0" r="0"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110623"/>
        </a:solidFill>
      </p:bgPr>
    </p:bg>
    <p:spTree>
      <p:nvGrpSpPr>
        <p:cNvPr id="1" name=""/>
        <p:cNvGrpSpPr/>
        <p:nvPr/>
      </p:nvGrpSpPr>
      <p:grpSpPr>
        <a:xfrm>
          <a:off x="0" y="0"/>
          <a:ext cx="0" cy="0"/>
          <a:chOff x="0" y="0"/>
          <a:chExt cx="0" cy="0"/>
        </a:xfrm>
      </p:grpSpPr>
      <p:sp>
        <p:nvSpPr>
          <p:cNvPr name="TextBox 2" id="2"/>
          <p:cNvSpPr txBox="true"/>
          <p:nvPr/>
        </p:nvSpPr>
        <p:spPr>
          <a:xfrm rot="0">
            <a:off x="3617627" y="4450849"/>
            <a:ext cx="10307337" cy="944543"/>
          </a:xfrm>
          <a:prstGeom prst="rect">
            <a:avLst/>
          </a:prstGeom>
        </p:spPr>
        <p:txBody>
          <a:bodyPr anchor="t" rtlCol="false" tIns="0" lIns="0" bIns="0" rIns="0">
            <a:spAutoFit/>
          </a:bodyPr>
          <a:lstStyle/>
          <a:p>
            <a:pPr algn="ctr">
              <a:lnSpc>
                <a:spcPts val="7488"/>
              </a:lnSpc>
            </a:pPr>
            <a:r>
              <a:rPr lang="en-US" sz="6000">
                <a:solidFill>
                  <a:srgbClr val="FFFFFF"/>
                </a:solidFill>
                <a:latin typeface="Mokoto"/>
                <a:ea typeface="Mokoto"/>
                <a:cs typeface="Mokoto"/>
                <a:sym typeface="Mokoto"/>
              </a:rPr>
              <a:t>CODINGAN</a:t>
            </a:r>
          </a:p>
        </p:txBody>
      </p:sp>
      <p:sp>
        <p:nvSpPr>
          <p:cNvPr name="Freeform 3" id="3"/>
          <p:cNvSpPr/>
          <p:nvPr/>
        </p:nvSpPr>
        <p:spPr>
          <a:xfrm flipH="false" flipV="false" rot="1392916">
            <a:off x="1385812" y="8447106"/>
            <a:ext cx="1158181" cy="1295867"/>
          </a:xfrm>
          <a:custGeom>
            <a:avLst/>
            <a:gdLst/>
            <a:ahLst/>
            <a:cxnLst/>
            <a:rect r="r" b="b" t="t" l="l"/>
            <a:pathLst>
              <a:path h="1295867" w="1158181">
                <a:moveTo>
                  <a:pt x="0" y="0"/>
                </a:moveTo>
                <a:lnTo>
                  <a:pt x="1158181" y="0"/>
                </a:lnTo>
                <a:lnTo>
                  <a:pt x="1158181" y="1295866"/>
                </a:lnTo>
                <a:lnTo>
                  <a:pt x="0" y="1295866"/>
                </a:lnTo>
                <a:lnTo>
                  <a:pt x="0" y="0"/>
                </a:lnTo>
                <a:close/>
              </a:path>
            </a:pathLst>
          </a:custGeom>
          <a:blipFill>
            <a:blip r:embed="rId2"/>
            <a:stretch>
              <a:fillRect l="0" t="0" r="0" b="0"/>
            </a:stretch>
          </a:blipFill>
        </p:spPr>
      </p:sp>
      <p:sp>
        <p:nvSpPr>
          <p:cNvPr name="Freeform 4" id="4"/>
          <p:cNvSpPr/>
          <p:nvPr/>
        </p:nvSpPr>
        <p:spPr>
          <a:xfrm flipH="false" flipV="false" rot="-1600701">
            <a:off x="16124851" y="1494613"/>
            <a:ext cx="1207461" cy="1277736"/>
          </a:xfrm>
          <a:custGeom>
            <a:avLst/>
            <a:gdLst/>
            <a:ahLst/>
            <a:cxnLst/>
            <a:rect r="r" b="b" t="t" l="l"/>
            <a:pathLst>
              <a:path h="1277736" w="1207461">
                <a:moveTo>
                  <a:pt x="0" y="0"/>
                </a:moveTo>
                <a:lnTo>
                  <a:pt x="1207460" y="0"/>
                </a:lnTo>
                <a:lnTo>
                  <a:pt x="1207460" y="1277736"/>
                </a:lnTo>
                <a:lnTo>
                  <a:pt x="0" y="1277736"/>
                </a:lnTo>
                <a:lnTo>
                  <a:pt x="0" y="0"/>
                </a:lnTo>
                <a:close/>
              </a:path>
            </a:pathLst>
          </a:custGeom>
          <a:blipFill>
            <a:blip r:embed="rId3"/>
            <a:stretch>
              <a:fillRect l="0" t="0" r="0" b="0"/>
            </a:stretch>
          </a:blipFill>
        </p:spPr>
      </p:sp>
      <p:sp>
        <p:nvSpPr>
          <p:cNvPr name="Freeform 5" id="5"/>
          <p:cNvSpPr/>
          <p:nvPr/>
        </p:nvSpPr>
        <p:spPr>
          <a:xfrm flipH="false" flipV="false" rot="1558470">
            <a:off x="15098001" y="9281744"/>
            <a:ext cx="1129301" cy="1199788"/>
          </a:xfrm>
          <a:custGeom>
            <a:avLst/>
            <a:gdLst/>
            <a:ahLst/>
            <a:cxnLst/>
            <a:rect r="r" b="b" t="t" l="l"/>
            <a:pathLst>
              <a:path h="1199788" w="1129301">
                <a:moveTo>
                  <a:pt x="0" y="0"/>
                </a:moveTo>
                <a:lnTo>
                  <a:pt x="1129301" y="0"/>
                </a:lnTo>
                <a:lnTo>
                  <a:pt x="1129301" y="1199788"/>
                </a:lnTo>
                <a:lnTo>
                  <a:pt x="0" y="1199788"/>
                </a:lnTo>
                <a:lnTo>
                  <a:pt x="0" y="0"/>
                </a:lnTo>
                <a:close/>
              </a:path>
            </a:pathLst>
          </a:custGeom>
          <a:blipFill>
            <a:blip r:embed="rId4"/>
            <a:stretch>
              <a:fillRect l="0" t="0" r="0" b="0"/>
            </a:stretch>
          </a:blipFill>
        </p:spPr>
      </p:sp>
      <p:sp>
        <p:nvSpPr>
          <p:cNvPr name="Freeform 6" id="6"/>
          <p:cNvSpPr/>
          <p:nvPr/>
        </p:nvSpPr>
        <p:spPr>
          <a:xfrm flipH="false" flipV="false" rot="0">
            <a:off x="589560" y="1466616"/>
            <a:ext cx="1112030" cy="1140544"/>
          </a:xfrm>
          <a:custGeom>
            <a:avLst/>
            <a:gdLst/>
            <a:ahLst/>
            <a:cxnLst/>
            <a:rect r="r" b="b" t="t" l="l"/>
            <a:pathLst>
              <a:path h="1140544" w="1112030">
                <a:moveTo>
                  <a:pt x="0" y="0"/>
                </a:moveTo>
                <a:lnTo>
                  <a:pt x="1112030" y="0"/>
                </a:lnTo>
                <a:lnTo>
                  <a:pt x="1112030" y="1140544"/>
                </a:lnTo>
                <a:lnTo>
                  <a:pt x="0" y="1140544"/>
                </a:lnTo>
                <a:lnTo>
                  <a:pt x="0" y="0"/>
                </a:lnTo>
                <a:close/>
              </a:path>
            </a:pathLst>
          </a:custGeom>
          <a:blipFill>
            <a:blip r:embed="rId5"/>
            <a:stretch>
              <a:fillRect l="0" t="0" r="0" b="0"/>
            </a:stretch>
          </a:blipFill>
        </p:spPr>
      </p:sp>
      <p:sp>
        <p:nvSpPr>
          <p:cNvPr name="Freeform 7" id="7"/>
          <p:cNvSpPr/>
          <p:nvPr/>
        </p:nvSpPr>
        <p:spPr>
          <a:xfrm flipH="false" flipV="false" rot="-941928">
            <a:off x="2953672" y="-218611"/>
            <a:ext cx="835498" cy="1602074"/>
          </a:xfrm>
          <a:custGeom>
            <a:avLst/>
            <a:gdLst/>
            <a:ahLst/>
            <a:cxnLst/>
            <a:rect r="r" b="b" t="t" l="l"/>
            <a:pathLst>
              <a:path h="1602074" w="835498">
                <a:moveTo>
                  <a:pt x="0" y="0"/>
                </a:moveTo>
                <a:lnTo>
                  <a:pt x="835498" y="0"/>
                </a:lnTo>
                <a:lnTo>
                  <a:pt x="835498" y="1602073"/>
                </a:lnTo>
                <a:lnTo>
                  <a:pt x="0" y="1602073"/>
                </a:lnTo>
                <a:lnTo>
                  <a:pt x="0" y="0"/>
                </a:lnTo>
                <a:close/>
              </a:path>
            </a:pathLst>
          </a:custGeom>
          <a:blipFill>
            <a:blip r:embed="rId6"/>
            <a:stretch>
              <a:fillRect l="0" t="0" r="0" b="0"/>
            </a:stretch>
          </a:blipFill>
        </p:spPr>
      </p:sp>
      <p:sp>
        <p:nvSpPr>
          <p:cNvPr name="Freeform 8" id="8"/>
          <p:cNvSpPr/>
          <p:nvPr/>
        </p:nvSpPr>
        <p:spPr>
          <a:xfrm flipH="false" flipV="false" rot="0">
            <a:off x="-281892" y="6881003"/>
            <a:ext cx="989057" cy="931554"/>
          </a:xfrm>
          <a:custGeom>
            <a:avLst/>
            <a:gdLst/>
            <a:ahLst/>
            <a:cxnLst/>
            <a:rect r="r" b="b" t="t" l="l"/>
            <a:pathLst>
              <a:path h="931554" w="989057">
                <a:moveTo>
                  <a:pt x="0" y="0"/>
                </a:moveTo>
                <a:lnTo>
                  <a:pt x="989058" y="0"/>
                </a:lnTo>
                <a:lnTo>
                  <a:pt x="989058" y="931554"/>
                </a:lnTo>
                <a:lnTo>
                  <a:pt x="0" y="931554"/>
                </a:lnTo>
                <a:lnTo>
                  <a:pt x="0" y="0"/>
                </a:lnTo>
                <a:close/>
              </a:path>
            </a:pathLst>
          </a:custGeom>
          <a:blipFill>
            <a:blip r:embed="rId7"/>
            <a:stretch>
              <a:fillRect l="0" t="0" r="0" b="0"/>
            </a:stretch>
          </a:blipFill>
        </p:spPr>
      </p:sp>
      <p:sp>
        <p:nvSpPr>
          <p:cNvPr name="Freeform 9" id="9"/>
          <p:cNvSpPr/>
          <p:nvPr/>
        </p:nvSpPr>
        <p:spPr>
          <a:xfrm flipH="false" flipV="false" rot="0">
            <a:off x="16728581" y="7280319"/>
            <a:ext cx="1061438" cy="1261123"/>
          </a:xfrm>
          <a:custGeom>
            <a:avLst/>
            <a:gdLst/>
            <a:ahLst/>
            <a:cxnLst/>
            <a:rect r="r" b="b" t="t" l="l"/>
            <a:pathLst>
              <a:path h="1261123" w="1061438">
                <a:moveTo>
                  <a:pt x="0" y="0"/>
                </a:moveTo>
                <a:lnTo>
                  <a:pt x="1061438" y="0"/>
                </a:lnTo>
                <a:lnTo>
                  <a:pt x="1061438" y="1261123"/>
                </a:lnTo>
                <a:lnTo>
                  <a:pt x="0" y="1261123"/>
                </a:lnTo>
                <a:lnTo>
                  <a:pt x="0" y="0"/>
                </a:lnTo>
                <a:close/>
              </a:path>
            </a:pathLst>
          </a:custGeom>
          <a:blipFill>
            <a:blip r:embed="rId8"/>
            <a:stretch>
              <a:fillRect l="0" t="0" r="0" b="0"/>
            </a:stretch>
          </a:blipFill>
        </p:spPr>
      </p:sp>
      <p:sp>
        <p:nvSpPr>
          <p:cNvPr name="Freeform 10" id="10"/>
          <p:cNvSpPr/>
          <p:nvPr/>
        </p:nvSpPr>
        <p:spPr>
          <a:xfrm flipH="false" flipV="false" rot="0">
            <a:off x="14484896" y="-418069"/>
            <a:ext cx="850955" cy="836137"/>
          </a:xfrm>
          <a:custGeom>
            <a:avLst/>
            <a:gdLst/>
            <a:ahLst/>
            <a:cxnLst/>
            <a:rect r="r" b="b" t="t" l="l"/>
            <a:pathLst>
              <a:path h="836137" w="850955">
                <a:moveTo>
                  <a:pt x="0" y="0"/>
                </a:moveTo>
                <a:lnTo>
                  <a:pt x="850955" y="0"/>
                </a:lnTo>
                <a:lnTo>
                  <a:pt x="850955" y="836138"/>
                </a:lnTo>
                <a:lnTo>
                  <a:pt x="0" y="836138"/>
                </a:lnTo>
                <a:lnTo>
                  <a:pt x="0" y="0"/>
                </a:lnTo>
                <a:close/>
              </a:path>
            </a:pathLst>
          </a:custGeom>
          <a:blipFill>
            <a:blip r:embed="rId9"/>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110623"/>
        </a:solidFill>
      </p:bgPr>
    </p:bg>
    <p:spTree>
      <p:nvGrpSpPr>
        <p:cNvPr id="1" name=""/>
        <p:cNvGrpSpPr/>
        <p:nvPr/>
      </p:nvGrpSpPr>
      <p:grpSpPr>
        <a:xfrm>
          <a:off x="0" y="0"/>
          <a:ext cx="0" cy="0"/>
          <a:chOff x="0" y="0"/>
          <a:chExt cx="0" cy="0"/>
        </a:xfrm>
      </p:grpSpPr>
      <p:sp>
        <p:nvSpPr>
          <p:cNvPr name="TextBox 2" id="2"/>
          <p:cNvSpPr txBox="true"/>
          <p:nvPr/>
        </p:nvSpPr>
        <p:spPr>
          <a:xfrm rot="0">
            <a:off x="4190083" y="2528708"/>
            <a:ext cx="10294812" cy="7352930"/>
          </a:xfrm>
          <a:prstGeom prst="rect">
            <a:avLst/>
          </a:prstGeom>
        </p:spPr>
        <p:txBody>
          <a:bodyPr anchor="t" rtlCol="false" tIns="0" lIns="0" bIns="0" rIns="0">
            <a:spAutoFit/>
          </a:bodyPr>
          <a:lstStyle/>
          <a:p>
            <a:pPr algn="ctr">
              <a:lnSpc>
                <a:spcPts val="3919"/>
              </a:lnSpc>
            </a:pPr>
            <a:r>
              <a:rPr lang="en-US" sz="2799">
                <a:solidFill>
                  <a:srgbClr val="FFFFFF"/>
                </a:solidFill>
                <a:latin typeface="Montserrat"/>
                <a:ea typeface="Montserrat"/>
                <a:cs typeface="Montserrat"/>
                <a:sym typeface="Montserrat"/>
              </a:rPr>
              <a:t>Berdasarkan hasil pengujian, model CycleGAN berhasil mengubah foto pemandangan menjadi lukisan dengan gaya khas Claude Monet. Perubahan warna dan tekstur terlihat jelas, terutama pada sapuan kuas dan kombinasi warna yang menyerupai lukisan asli Monet.</a:t>
            </a:r>
          </a:p>
          <a:p>
            <a:pPr algn="ctr">
              <a:lnSpc>
                <a:spcPts val="3919"/>
              </a:lnSpc>
            </a:pPr>
            <a:r>
              <a:rPr lang="en-US" sz="2799">
                <a:solidFill>
                  <a:srgbClr val="FFFFFF"/>
                </a:solidFill>
                <a:latin typeface="Montserrat"/>
                <a:ea typeface="Montserrat"/>
                <a:cs typeface="Montserrat"/>
                <a:sym typeface="Montserrat"/>
              </a:rPr>
              <a:t>Selain itu, struktur objek utama seperti rumah, pepohonan, dan bangunan tetap terjaga dengan baik. Hal ini menunjukkan bahwa model tidak hanya fokus pada perubahan gaya visual, tetapi juga mampu mempertahankan bentuk asli gambar.</a:t>
            </a:r>
          </a:p>
          <a:p>
            <a:pPr algn="ctr">
              <a:lnSpc>
                <a:spcPts val="3919"/>
              </a:lnSpc>
            </a:pPr>
            <a:r>
              <a:rPr lang="en-US" sz="2799">
                <a:solidFill>
                  <a:srgbClr val="FFFFFF"/>
                </a:solidFill>
                <a:latin typeface="Montserrat"/>
                <a:ea typeface="Montserrat"/>
                <a:cs typeface="Montserrat"/>
                <a:sym typeface="Montserrat"/>
              </a:rPr>
              <a:t>Hasil ini membuktikan bahwa penggunaan Cycle Consistency Loss dan arsitektur ResNet efektif dalam menjaga keseimbangan antara estetika seni dan kejelasan objek pada gambar hasil transformasi.</a:t>
            </a:r>
          </a:p>
          <a:p>
            <a:pPr algn="ctr">
              <a:lnSpc>
                <a:spcPts val="3499"/>
              </a:lnSpc>
            </a:pPr>
          </a:p>
        </p:txBody>
      </p:sp>
      <p:sp>
        <p:nvSpPr>
          <p:cNvPr name="TextBox 3" id="3"/>
          <p:cNvSpPr txBox="true"/>
          <p:nvPr/>
        </p:nvSpPr>
        <p:spPr>
          <a:xfrm rot="0">
            <a:off x="3990332" y="1450355"/>
            <a:ext cx="10307337" cy="683126"/>
          </a:xfrm>
          <a:prstGeom prst="rect">
            <a:avLst/>
          </a:prstGeom>
        </p:spPr>
        <p:txBody>
          <a:bodyPr anchor="t" rtlCol="false" tIns="0" lIns="0" bIns="0" rIns="0">
            <a:spAutoFit/>
          </a:bodyPr>
          <a:lstStyle/>
          <a:p>
            <a:pPr algn="ctr">
              <a:lnSpc>
                <a:spcPts val="5391"/>
              </a:lnSpc>
            </a:pPr>
            <a:r>
              <a:rPr lang="en-US" sz="4319">
                <a:solidFill>
                  <a:srgbClr val="FFFFFF"/>
                </a:solidFill>
                <a:latin typeface="Mokoto"/>
                <a:ea typeface="Mokoto"/>
                <a:cs typeface="Mokoto"/>
                <a:sym typeface="Mokoto"/>
              </a:rPr>
              <a:t>HASIL PENGUJIAN</a:t>
            </a:r>
          </a:p>
        </p:txBody>
      </p:sp>
      <p:sp>
        <p:nvSpPr>
          <p:cNvPr name="Freeform 4" id="4"/>
          <p:cNvSpPr/>
          <p:nvPr/>
        </p:nvSpPr>
        <p:spPr>
          <a:xfrm flipH="false" flipV="false" rot="1392916">
            <a:off x="1385812" y="8447106"/>
            <a:ext cx="1158181" cy="1295867"/>
          </a:xfrm>
          <a:custGeom>
            <a:avLst/>
            <a:gdLst/>
            <a:ahLst/>
            <a:cxnLst/>
            <a:rect r="r" b="b" t="t" l="l"/>
            <a:pathLst>
              <a:path h="1295867" w="1158181">
                <a:moveTo>
                  <a:pt x="0" y="0"/>
                </a:moveTo>
                <a:lnTo>
                  <a:pt x="1158181" y="0"/>
                </a:lnTo>
                <a:lnTo>
                  <a:pt x="1158181" y="1295866"/>
                </a:lnTo>
                <a:lnTo>
                  <a:pt x="0" y="1295866"/>
                </a:lnTo>
                <a:lnTo>
                  <a:pt x="0" y="0"/>
                </a:lnTo>
                <a:close/>
              </a:path>
            </a:pathLst>
          </a:custGeom>
          <a:blipFill>
            <a:blip r:embed="rId2"/>
            <a:stretch>
              <a:fillRect l="0" t="0" r="0" b="0"/>
            </a:stretch>
          </a:blipFill>
        </p:spPr>
      </p:sp>
      <p:sp>
        <p:nvSpPr>
          <p:cNvPr name="Freeform 5" id="5"/>
          <p:cNvSpPr/>
          <p:nvPr/>
        </p:nvSpPr>
        <p:spPr>
          <a:xfrm flipH="false" flipV="false" rot="-1600701">
            <a:off x="16124851" y="1494613"/>
            <a:ext cx="1207461" cy="1277736"/>
          </a:xfrm>
          <a:custGeom>
            <a:avLst/>
            <a:gdLst/>
            <a:ahLst/>
            <a:cxnLst/>
            <a:rect r="r" b="b" t="t" l="l"/>
            <a:pathLst>
              <a:path h="1277736" w="1207461">
                <a:moveTo>
                  <a:pt x="0" y="0"/>
                </a:moveTo>
                <a:lnTo>
                  <a:pt x="1207460" y="0"/>
                </a:lnTo>
                <a:lnTo>
                  <a:pt x="1207460" y="1277736"/>
                </a:lnTo>
                <a:lnTo>
                  <a:pt x="0" y="1277736"/>
                </a:lnTo>
                <a:lnTo>
                  <a:pt x="0" y="0"/>
                </a:lnTo>
                <a:close/>
              </a:path>
            </a:pathLst>
          </a:custGeom>
          <a:blipFill>
            <a:blip r:embed="rId3"/>
            <a:stretch>
              <a:fillRect l="0" t="0" r="0" b="0"/>
            </a:stretch>
          </a:blipFill>
        </p:spPr>
      </p:sp>
      <p:sp>
        <p:nvSpPr>
          <p:cNvPr name="Freeform 6" id="6"/>
          <p:cNvSpPr/>
          <p:nvPr/>
        </p:nvSpPr>
        <p:spPr>
          <a:xfrm flipH="false" flipV="false" rot="1558470">
            <a:off x="15098001" y="9281744"/>
            <a:ext cx="1129301" cy="1199788"/>
          </a:xfrm>
          <a:custGeom>
            <a:avLst/>
            <a:gdLst/>
            <a:ahLst/>
            <a:cxnLst/>
            <a:rect r="r" b="b" t="t" l="l"/>
            <a:pathLst>
              <a:path h="1199788" w="1129301">
                <a:moveTo>
                  <a:pt x="0" y="0"/>
                </a:moveTo>
                <a:lnTo>
                  <a:pt x="1129301" y="0"/>
                </a:lnTo>
                <a:lnTo>
                  <a:pt x="1129301" y="1199788"/>
                </a:lnTo>
                <a:lnTo>
                  <a:pt x="0" y="1199788"/>
                </a:lnTo>
                <a:lnTo>
                  <a:pt x="0" y="0"/>
                </a:lnTo>
                <a:close/>
              </a:path>
            </a:pathLst>
          </a:custGeom>
          <a:blipFill>
            <a:blip r:embed="rId4"/>
            <a:stretch>
              <a:fillRect l="0" t="0" r="0" b="0"/>
            </a:stretch>
          </a:blipFill>
        </p:spPr>
      </p:sp>
      <p:sp>
        <p:nvSpPr>
          <p:cNvPr name="Freeform 7" id="7"/>
          <p:cNvSpPr/>
          <p:nvPr/>
        </p:nvSpPr>
        <p:spPr>
          <a:xfrm flipH="false" flipV="false" rot="0">
            <a:off x="589560" y="1466616"/>
            <a:ext cx="1112030" cy="1140544"/>
          </a:xfrm>
          <a:custGeom>
            <a:avLst/>
            <a:gdLst/>
            <a:ahLst/>
            <a:cxnLst/>
            <a:rect r="r" b="b" t="t" l="l"/>
            <a:pathLst>
              <a:path h="1140544" w="1112030">
                <a:moveTo>
                  <a:pt x="0" y="0"/>
                </a:moveTo>
                <a:lnTo>
                  <a:pt x="1112030" y="0"/>
                </a:lnTo>
                <a:lnTo>
                  <a:pt x="1112030" y="1140544"/>
                </a:lnTo>
                <a:lnTo>
                  <a:pt x="0" y="1140544"/>
                </a:lnTo>
                <a:lnTo>
                  <a:pt x="0" y="0"/>
                </a:lnTo>
                <a:close/>
              </a:path>
            </a:pathLst>
          </a:custGeom>
          <a:blipFill>
            <a:blip r:embed="rId5"/>
            <a:stretch>
              <a:fillRect l="0" t="0" r="0" b="0"/>
            </a:stretch>
          </a:blipFill>
        </p:spPr>
      </p:sp>
      <p:sp>
        <p:nvSpPr>
          <p:cNvPr name="Freeform 8" id="8"/>
          <p:cNvSpPr/>
          <p:nvPr/>
        </p:nvSpPr>
        <p:spPr>
          <a:xfrm flipH="false" flipV="false" rot="-941928">
            <a:off x="2953672" y="-218611"/>
            <a:ext cx="835498" cy="1602074"/>
          </a:xfrm>
          <a:custGeom>
            <a:avLst/>
            <a:gdLst/>
            <a:ahLst/>
            <a:cxnLst/>
            <a:rect r="r" b="b" t="t" l="l"/>
            <a:pathLst>
              <a:path h="1602074" w="835498">
                <a:moveTo>
                  <a:pt x="0" y="0"/>
                </a:moveTo>
                <a:lnTo>
                  <a:pt x="835498" y="0"/>
                </a:lnTo>
                <a:lnTo>
                  <a:pt x="835498" y="1602073"/>
                </a:lnTo>
                <a:lnTo>
                  <a:pt x="0" y="1602073"/>
                </a:lnTo>
                <a:lnTo>
                  <a:pt x="0" y="0"/>
                </a:lnTo>
                <a:close/>
              </a:path>
            </a:pathLst>
          </a:custGeom>
          <a:blipFill>
            <a:blip r:embed="rId6"/>
            <a:stretch>
              <a:fillRect l="0" t="0" r="0" b="0"/>
            </a:stretch>
          </a:blipFill>
        </p:spPr>
      </p:sp>
      <p:sp>
        <p:nvSpPr>
          <p:cNvPr name="Freeform 9" id="9"/>
          <p:cNvSpPr/>
          <p:nvPr/>
        </p:nvSpPr>
        <p:spPr>
          <a:xfrm flipH="false" flipV="false" rot="0">
            <a:off x="-281892" y="6881003"/>
            <a:ext cx="989057" cy="931554"/>
          </a:xfrm>
          <a:custGeom>
            <a:avLst/>
            <a:gdLst/>
            <a:ahLst/>
            <a:cxnLst/>
            <a:rect r="r" b="b" t="t" l="l"/>
            <a:pathLst>
              <a:path h="931554" w="989057">
                <a:moveTo>
                  <a:pt x="0" y="0"/>
                </a:moveTo>
                <a:lnTo>
                  <a:pt x="989058" y="0"/>
                </a:lnTo>
                <a:lnTo>
                  <a:pt x="989058" y="931554"/>
                </a:lnTo>
                <a:lnTo>
                  <a:pt x="0" y="931554"/>
                </a:lnTo>
                <a:lnTo>
                  <a:pt x="0" y="0"/>
                </a:lnTo>
                <a:close/>
              </a:path>
            </a:pathLst>
          </a:custGeom>
          <a:blipFill>
            <a:blip r:embed="rId7"/>
            <a:stretch>
              <a:fillRect l="0" t="0" r="0" b="0"/>
            </a:stretch>
          </a:blipFill>
        </p:spPr>
      </p:sp>
      <p:sp>
        <p:nvSpPr>
          <p:cNvPr name="Freeform 10" id="10"/>
          <p:cNvSpPr/>
          <p:nvPr/>
        </p:nvSpPr>
        <p:spPr>
          <a:xfrm flipH="false" flipV="false" rot="0">
            <a:off x="16728581" y="7280319"/>
            <a:ext cx="1061438" cy="1261123"/>
          </a:xfrm>
          <a:custGeom>
            <a:avLst/>
            <a:gdLst/>
            <a:ahLst/>
            <a:cxnLst/>
            <a:rect r="r" b="b" t="t" l="l"/>
            <a:pathLst>
              <a:path h="1261123" w="1061438">
                <a:moveTo>
                  <a:pt x="0" y="0"/>
                </a:moveTo>
                <a:lnTo>
                  <a:pt x="1061438" y="0"/>
                </a:lnTo>
                <a:lnTo>
                  <a:pt x="1061438" y="1261123"/>
                </a:lnTo>
                <a:lnTo>
                  <a:pt x="0" y="1261123"/>
                </a:lnTo>
                <a:lnTo>
                  <a:pt x="0" y="0"/>
                </a:lnTo>
                <a:close/>
              </a:path>
            </a:pathLst>
          </a:custGeom>
          <a:blipFill>
            <a:blip r:embed="rId8"/>
            <a:stretch>
              <a:fillRect l="0" t="0" r="0" b="0"/>
            </a:stretch>
          </a:blipFill>
        </p:spPr>
      </p:sp>
      <p:sp>
        <p:nvSpPr>
          <p:cNvPr name="Freeform 11" id="11"/>
          <p:cNvSpPr/>
          <p:nvPr/>
        </p:nvSpPr>
        <p:spPr>
          <a:xfrm flipH="false" flipV="false" rot="0">
            <a:off x="14484896" y="-418069"/>
            <a:ext cx="850955" cy="836137"/>
          </a:xfrm>
          <a:custGeom>
            <a:avLst/>
            <a:gdLst/>
            <a:ahLst/>
            <a:cxnLst/>
            <a:rect r="r" b="b" t="t" l="l"/>
            <a:pathLst>
              <a:path h="836137" w="850955">
                <a:moveTo>
                  <a:pt x="0" y="0"/>
                </a:moveTo>
                <a:lnTo>
                  <a:pt x="850955" y="0"/>
                </a:lnTo>
                <a:lnTo>
                  <a:pt x="850955" y="836138"/>
                </a:lnTo>
                <a:lnTo>
                  <a:pt x="0" y="836138"/>
                </a:lnTo>
                <a:lnTo>
                  <a:pt x="0" y="0"/>
                </a:lnTo>
                <a:close/>
              </a:path>
            </a:pathLst>
          </a:custGeom>
          <a:blipFill>
            <a:blip r:embed="rId9"/>
            <a:stretch>
              <a:fillRect l="0" t="0" r="0" b="0"/>
            </a:stretch>
          </a:blipFill>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110623"/>
        </a:solidFill>
      </p:bgPr>
    </p:bg>
    <p:spTree>
      <p:nvGrpSpPr>
        <p:cNvPr id="1" name=""/>
        <p:cNvGrpSpPr/>
        <p:nvPr/>
      </p:nvGrpSpPr>
      <p:grpSpPr>
        <a:xfrm>
          <a:off x="0" y="0"/>
          <a:ext cx="0" cy="0"/>
          <a:chOff x="0" y="0"/>
          <a:chExt cx="0" cy="0"/>
        </a:xfrm>
      </p:grpSpPr>
      <p:sp>
        <p:nvSpPr>
          <p:cNvPr name="Freeform 2" id="2"/>
          <p:cNvSpPr/>
          <p:nvPr/>
        </p:nvSpPr>
        <p:spPr>
          <a:xfrm flipH="false" flipV="false" rot="0">
            <a:off x="-1056039" y="-1077267"/>
            <a:ext cx="4641250" cy="4211934"/>
          </a:xfrm>
          <a:custGeom>
            <a:avLst/>
            <a:gdLst/>
            <a:ahLst/>
            <a:cxnLst/>
            <a:rect r="r" b="b" t="t" l="l"/>
            <a:pathLst>
              <a:path h="4211934" w="4641250">
                <a:moveTo>
                  <a:pt x="0" y="0"/>
                </a:moveTo>
                <a:lnTo>
                  <a:pt x="4641250" y="0"/>
                </a:lnTo>
                <a:lnTo>
                  <a:pt x="4641250" y="4211934"/>
                </a:lnTo>
                <a:lnTo>
                  <a:pt x="0" y="4211934"/>
                </a:lnTo>
                <a:lnTo>
                  <a:pt x="0" y="0"/>
                </a:lnTo>
                <a:close/>
              </a:path>
            </a:pathLst>
          </a:custGeom>
          <a:blipFill>
            <a:blip r:embed="rId2"/>
            <a:stretch>
              <a:fillRect l="0" t="0" r="0" b="0"/>
            </a:stretch>
          </a:blipFill>
        </p:spPr>
      </p:sp>
      <p:sp>
        <p:nvSpPr>
          <p:cNvPr name="Freeform 3" id="3"/>
          <p:cNvSpPr/>
          <p:nvPr/>
        </p:nvSpPr>
        <p:spPr>
          <a:xfrm flipH="false" flipV="false" rot="0">
            <a:off x="13422249" y="4759829"/>
            <a:ext cx="7674102" cy="8229600"/>
          </a:xfrm>
          <a:custGeom>
            <a:avLst/>
            <a:gdLst/>
            <a:ahLst/>
            <a:cxnLst/>
            <a:rect r="r" b="b" t="t" l="l"/>
            <a:pathLst>
              <a:path h="8229600" w="7674102">
                <a:moveTo>
                  <a:pt x="0" y="0"/>
                </a:moveTo>
                <a:lnTo>
                  <a:pt x="7674102" y="0"/>
                </a:lnTo>
                <a:lnTo>
                  <a:pt x="7674102" y="8229600"/>
                </a:lnTo>
                <a:lnTo>
                  <a:pt x="0" y="8229600"/>
                </a:lnTo>
                <a:lnTo>
                  <a:pt x="0" y="0"/>
                </a:lnTo>
                <a:close/>
              </a:path>
            </a:pathLst>
          </a:custGeom>
          <a:blipFill>
            <a:blip r:embed="rId3"/>
            <a:stretch>
              <a:fillRect l="0" t="0" r="0" b="0"/>
            </a:stretch>
          </a:blipFill>
        </p:spPr>
      </p:sp>
      <p:sp>
        <p:nvSpPr>
          <p:cNvPr name="Freeform 4" id="4"/>
          <p:cNvSpPr/>
          <p:nvPr/>
        </p:nvSpPr>
        <p:spPr>
          <a:xfrm flipH="false" flipV="false" rot="-5314299">
            <a:off x="-2062633" y="6359657"/>
            <a:ext cx="6654437" cy="6446486"/>
          </a:xfrm>
          <a:custGeom>
            <a:avLst/>
            <a:gdLst/>
            <a:ahLst/>
            <a:cxnLst/>
            <a:rect r="r" b="b" t="t" l="l"/>
            <a:pathLst>
              <a:path h="6446486" w="6654437">
                <a:moveTo>
                  <a:pt x="0" y="0"/>
                </a:moveTo>
                <a:lnTo>
                  <a:pt x="6654437" y="0"/>
                </a:lnTo>
                <a:lnTo>
                  <a:pt x="6654437" y="6446485"/>
                </a:lnTo>
                <a:lnTo>
                  <a:pt x="0" y="6446485"/>
                </a:lnTo>
                <a:lnTo>
                  <a:pt x="0" y="0"/>
                </a:lnTo>
                <a:close/>
              </a:path>
            </a:pathLst>
          </a:custGeom>
          <a:blipFill>
            <a:blip r:embed="rId4"/>
            <a:stretch>
              <a:fillRect l="0" t="0" r="0" b="0"/>
            </a:stretch>
          </a:blipFill>
        </p:spPr>
      </p:sp>
      <p:sp>
        <p:nvSpPr>
          <p:cNvPr name="Freeform 5" id="5"/>
          <p:cNvSpPr/>
          <p:nvPr/>
        </p:nvSpPr>
        <p:spPr>
          <a:xfrm flipH="false" flipV="false" rot="122150">
            <a:off x="11134991" y="-4166473"/>
            <a:ext cx="7153009" cy="6178411"/>
          </a:xfrm>
          <a:custGeom>
            <a:avLst/>
            <a:gdLst/>
            <a:ahLst/>
            <a:cxnLst/>
            <a:rect r="r" b="b" t="t" l="l"/>
            <a:pathLst>
              <a:path h="6178411" w="7153009">
                <a:moveTo>
                  <a:pt x="0" y="0"/>
                </a:moveTo>
                <a:lnTo>
                  <a:pt x="7153009" y="0"/>
                </a:lnTo>
                <a:lnTo>
                  <a:pt x="7153009" y="6178411"/>
                </a:lnTo>
                <a:lnTo>
                  <a:pt x="0" y="6178411"/>
                </a:lnTo>
                <a:lnTo>
                  <a:pt x="0" y="0"/>
                </a:lnTo>
                <a:close/>
              </a:path>
            </a:pathLst>
          </a:custGeom>
          <a:blipFill>
            <a:blip r:embed="rId5"/>
            <a:stretch>
              <a:fillRect l="0" t="0" r="0" b="0"/>
            </a:stretch>
          </a:blipFill>
        </p:spPr>
      </p:sp>
      <p:sp>
        <p:nvSpPr>
          <p:cNvPr name="TextBox 6" id="6"/>
          <p:cNvSpPr txBox="true"/>
          <p:nvPr/>
        </p:nvSpPr>
        <p:spPr>
          <a:xfrm rot="0">
            <a:off x="3264178" y="1459751"/>
            <a:ext cx="12512487" cy="660241"/>
          </a:xfrm>
          <a:prstGeom prst="rect">
            <a:avLst/>
          </a:prstGeom>
        </p:spPr>
        <p:txBody>
          <a:bodyPr anchor="t" rtlCol="false" tIns="0" lIns="0" bIns="0" rIns="0">
            <a:spAutoFit/>
          </a:bodyPr>
          <a:lstStyle/>
          <a:p>
            <a:pPr algn="ctr">
              <a:lnSpc>
                <a:spcPts val="5241"/>
              </a:lnSpc>
            </a:pPr>
            <a:r>
              <a:rPr lang="en-US" sz="4200">
                <a:solidFill>
                  <a:srgbClr val="FFFFFF"/>
                </a:solidFill>
                <a:latin typeface="Mokoto"/>
                <a:ea typeface="Mokoto"/>
                <a:cs typeface="Mokoto"/>
                <a:sym typeface="Mokoto"/>
              </a:rPr>
              <a:t>KESIMPULAN</a:t>
            </a:r>
          </a:p>
        </p:txBody>
      </p:sp>
      <p:sp>
        <p:nvSpPr>
          <p:cNvPr name="TextBox 7" id="7"/>
          <p:cNvSpPr txBox="true"/>
          <p:nvPr/>
        </p:nvSpPr>
        <p:spPr>
          <a:xfrm rot="0">
            <a:off x="4254315" y="2446120"/>
            <a:ext cx="10031704" cy="6108083"/>
          </a:xfrm>
          <a:prstGeom prst="rect">
            <a:avLst/>
          </a:prstGeom>
        </p:spPr>
        <p:txBody>
          <a:bodyPr anchor="t" rtlCol="false" tIns="0" lIns="0" bIns="0" rIns="0">
            <a:spAutoFit/>
          </a:bodyPr>
          <a:lstStyle/>
          <a:p>
            <a:pPr algn="l">
              <a:lnSpc>
                <a:spcPts val="3499"/>
              </a:lnSpc>
            </a:pPr>
            <a:r>
              <a:rPr lang="en-US" sz="2499">
                <a:solidFill>
                  <a:srgbClr val="FFFFFF"/>
                </a:solidFill>
                <a:latin typeface="Montserrat"/>
                <a:ea typeface="Montserrat"/>
                <a:cs typeface="Montserrat"/>
                <a:sym typeface="Montserrat"/>
              </a:rPr>
              <a:t>Model CycleGAN berhasil digunakan untuk mengubah foto pemandangan menjadi lukisan gaya Claude Monet tanpa memerlukan dataset berpasangan. Pemilihan CycleGAN terbukti efektif dalam menghasilkan gaya artistik yang konsisten meskipun data terbatas.</a:t>
            </a:r>
          </a:p>
          <a:p>
            <a:pPr algn="l">
              <a:lnSpc>
                <a:spcPts val="3499"/>
              </a:lnSpc>
            </a:pPr>
            <a:r>
              <a:rPr lang="en-US" sz="2499">
                <a:solidFill>
                  <a:srgbClr val="FFFFFF"/>
                </a:solidFill>
                <a:latin typeface="Montserrat"/>
                <a:ea typeface="Montserrat"/>
                <a:cs typeface="Montserrat"/>
                <a:sym typeface="Montserrat"/>
              </a:rPr>
              <a:t>Penggunaan Generator ResNet dengan enam blok residual mampu menjaga struktur objek, sedangkan Discriminator PatchGAN meningkatkan kualitas tekstur lukisan. Dukungan GAN Loss dan Cycle Consistency Loss membuat perubahan gaya tetap seimbang tanpa merusak bentuk gambar.</a:t>
            </a:r>
          </a:p>
          <a:p>
            <a:pPr algn="l">
              <a:lnSpc>
                <a:spcPts val="3499"/>
              </a:lnSpc>
            </a:pPr>
            <a:r>
              <a:rPr lang="en-US" sz="2499">
                <a:solidFill>
                  <a:srgbClr val="FFFFFF"/>
                </a:solidFill>
                <a:latin typeface="Montserrat"/>
                <a:ea typeface="Montserrat"/>
                <a:cs typeface="Montserrat"/>
                <a:sym typeface="Montserrat"/>
              </a:rPr>
              <a:t>Secara keseluruhan, hasil visual terlihat estetis dan objek tetap jelas, sehingga CycleGAN cocok digunakan untuk image-to-image translation berbasis seni.</a:t>
            </a:r>
          </a:p>
          <a:p>
            <a:pPr algn="l">
              <a:lnSpc>
                <a:spcPts val="3499"/>
              </a:lnSpc>
            </a:pPr>
          </a:p>
        </p:txBody>
      </p:sp>
      <p:sp>
        <p:nvSpPr>
          <p:cNvPr name="Freeform 8" id="8"/>
          <p:cNvSpPr/>
          <p:nvPr/>
        </p:nvSpPr>
        <p:spPr>
          <a:xfrm flipH="false" flipV="false" rot="1392916">
            <a:off x="3771088" y="8221451"/>
            <a:ext cx="1032424" cy="1155160"/>
          </a:xfrm>
          <a:custGeom>
            <a:avLst/>
            <a:gdLst/>
            <a:ahLst/>
            <a:cxnLst/>
            <a:rect r="r" b="b" t="t" l="l"/>
            <a:pathLst>
              <a:path h="1155160" w="1032424">
                <a:moveTo>
                  <a:pt x="0" y="0"/>
                </a:moveTo>
                <a:lnTo>
                  <a:pt x="1032424" y="0"/>
                </a:lnTo>
                <a:lnTo>
                  <a:pt x="1032424" y="1155159"/>
                </a:lnTo>
                <a:lnTo>
                  <a:pt x="0" y="1155159"/>
                </a:lnTo>
                <a:lnTo>
                  <a:pt x="0" y="0"/>
                </a:lnTo>
                <a:close/>
              </a:path>
            </a:pathLst>
          </a:custGeom>
          <a:blipFill>
            <a:blip r:embed="rId6"/>
            <a:stretch>
              <a:fillRect l="0" t="0" r="0" b="0"/>
            </a:stretch>
          </a:blipFill>
        </p:spPr>
      </p:sp>
      <p:sp>
        <p:nvSpPr>
          <p:cNvPr name="Freeform 9" id="9"/>
          <p:cNvSpPr/>
          <p:nvPr/>
        </p:nvSpPr>
        <p:spPr>
          <a:xfrm flipH="false" flipV="false" rot="-1600701">
            <a:off x="16471885" y="2037906"/>
            <a:ext cx="1207461" cy="1277736"/>
          </a:xfrm>
          <a:custGeom>
            <a:avLst/>
            <a:gdLst/>
            <a:ahLst/>
            <a:cxnLst/>
            <a:rect r="r" b="b" t="t" l="l"/>
            <a:pathLst>
              <a:path h="1277736" w="1207461">
                <a:moveTo>
                  <a:pt x="0" y="0"/>
                </a:moveTo>
                <a:lnTo>
                  <a:pt x="1207460" y="0"/>
                </a:lnTo>
                <a:lnTo>
                  <a:pt x="1207460" y="1277737"/>
                </a:lnTo>
                <a:lnTo>
                  <a:pt x="0" y="1277737"/>
                </a:lnTo>
                <a:lnTo>
                  <a:pt x="0" y="0"/>
                </a:lnTo>
                <a:close/>
              </a:path>
            </a:pathLst>
          </a:custGeom>
          <a:blipFill>
            <a:blip r:embed="rId7"/>
            <a:stretch>
              <a:fillRect l="0" t="0" r="0" b="0"/>
            </a:stretch>
          </a:blipFill>
        </p:spPr>
      </p:sp>
      <p:sp>
        <p:nvSpPr>
          <p:cNvPr name="Freeform 10" id="10"/>
          <p:cNvSpPr/>
          <p:nvPr/>
        </p:nvSpPr>
        <p:spPr>
          <a:xfrm flipH="false" flipV="false" rot="1558470">
            <a:off x="12277033" y="8603576"/>
            <a:ext cx="797660" cy="847448"/>
          </a:xfrm>
          <a:custGeom>
            <a:avLst/>
            <a:gdLst/>
            <a:ahLst/>
            <a:cxnLst/>
            <a:rect r="r" b="b" t="t" l="l"/>
            <a:pathLst>
              <a:path h="847448" w="797660">
                <a:moveTo>
                  <a:pt x="0" y="0"/>
                </a:moveTo>
                <a:lnTo>
                  <a:pt x="797660" y="0"/>
                </a:lnTo>
                <a:lnTo>
                  <a:pt x="797660" y="847448"/>
                </a:lnTo>
                <a:lnTo>
                  <a:pt x="0" y="847448"/>
                </a:lnTo>
                <a:lnTo>
                  <a:pt x="0" y="0"/>
                </a:lnTo>
                <a:close/>
              </a:path>
            </a:pathLst>
          </a:custGeom>
          <a:blipFill>
            <a:blip r:embed="rId8"/>
            <a:stretch>
              <a:fillRect l="0" t="0" r="0" b="0"/>
            </a:stretch>
          </a:blipFill>
        </p:spPr>
      </p:sp>
      <p:sp>
        <p:nvSpPr>
          <p:cNvPr name="Freeform 11" id="11"/>
          <p:cNvSpPr/>
          <p:nvPr/>
        </p:nvSpPr>
        <p:spPr>
          <a:xfrm flipH="false" flipV="false" rot="0">
            <a:off x="1264586" y="2119992"/>
            <a:ext cx="922118" cy="945762"/>
          </a:xfrm>
          <a:custGeom>
            <a:avLst/>
            <a:gdLst/>
            <a:ahLst/>
            <a:cxnLst/>
            <a:rect r="r" b="b" t="t" l="l"/>
            <a:pathLst>
              <a:path h="945762" w="922118">
                <a:moveTo>
                  <a:pt x="0" y="0"/>
                </a:moveTo>
                <a:lnTo>
                  <a:pt x="922118" y="0"/>
                </a:lnTo>
                <a:lnTo>
                  <a:pt x="922118" y="945762"/>
                </a:lnTo>
                <a:lnTo>
                  <a:pt x="0" y="945762"/>
                </a:lnTo>
                <a:lnTo>
                  <a:pt x="0" y="0"/>
                </a:lnTo>
                <a:close/>
              </a:path>
            </a:pathLst>
          </a:custGeom>
          <a:blipFill>
            <a:blip r:embed="rId9"/>
            <a:stretch>
              <a:fillRect l="0" t="0" r="0" b="0"/>
            </a:stretch>
          </a:blipFill>
        </p:spPr>
      </p:sp>
      <p:sp>
        <p:nvSpPr>
          <p:cNvPr name="Freeform 12" id="12"/>
          <p:cNvSpPr/>
          <p:nvPr/>
        </p:nvSpPr>
        <p:spPr>
          <a:xfrm flipH="false" flipV="false" rot="-1494861">
            <a:off x="3786372" y="719900"/>
            <a:ext cx="835498" cy="1602074"/>
          </a:xfrm>
          <a:custGeom>
            <a:avLst/>
            <a:gdLst/>
            <a:ahLst/>
            <a:cxnLst/>
            <a:rect r="r" b="b" t="t" l="l"/>
            <a:pathLst>
              <a:path h="1602074" w="835498">
                <a:moveTo>
                  <a:pt x="0" y="0"/>
                </a:moveTo>
                <a:lnTo>
                  <a:pt x="835498" y="0"/>
                </a:lnTo>
                <a:lnTo>
                  <a:pt x="835498" y="1602074"/>
                </a:lnTo>
                <a:lnTo>
                  <a:pt x="0" y="1602074"/>
                </a:lnTo>
                <a:lnTo>
                  <a:pt x="0" y="0"/>
                </a:lnTo>
                <a:close/>
              </a:path>
            </a:pathLst>
          </a:custGeom>
          <a:blipFill>
            <a:blip r:embed="rId10"/>
            <a:stretch>
              <a:fillRect l="0" t="0" r="0" b="0"/>
            </a:stretch>
          </a:blipFill>
        </p:spPr>
      </p:sp>
      <p:sp>
        <p:nvSpPr>
          <p:cNvPr name="Freeform 13" id="13"/>
          <p:cNvSpPr/>
          <p:nvPr/>
        </p:nvSpPr>
        <p:spPr>
          <a:xfrm flipH="false" flipV="false" rot="0">
            <a:off x="825154" y="6176370"/>
            <a:ext cx="878280" cy="827217"/>
          </a:xfrm>
          <a:custGeom>
            <a:avLst/>
            <a:gdLst/>
            <a:ahLst/>
            <a:cxnLst/>
            <a:rect r="r" b="b" t="t" l="l"/>
            <a:pathLst>
              <a:path h="827217" w="878280">
                <a:moveTo>
                  <a:pt x="0" y="0"/>
                </a:moveTo>
                <a:lnTo>
                  <a:pt x="878280" y="0"/>
                </a:lnTo>
                <a:lnTo>
                  <a:pt x="878280" y="827217"/>
                </a:lnTo>
                <a:lnTo>
                  <a:pt x="0" y="827217"/>
                </a:lnTo>
                <a:lnTo>
                  <a:pt x="0" y="0"/>
                </a:lnTo>
                <a:close/>
              </a:path>
            </a:pathLst>
          </a:custGeom>
          <a:blipFill>
            <a:blip r:embed="rId11"/>
            <a:stretch>
              <a:fillRect l="0" t="0" r="0" b="0"/>
            </a:stretch>
          </a:blipFill>
        </p:spPr>
      </p:sp>
      <p:sp>
        <p:nvSpPr>
          <p:cNvPr name="Freeform 14" id="14"/>
          <p:cNvSpPr/>
          <p:nvPr/>
        </p:nvSpPr>
        <p:spPr>
          <a:xfrm flipH="false" flipV="false" rot="0">
            <a:off x="15478966" y="4675971"/>
            <a:ext cx="1061438" cy="1261123"/>
          </a:xfrm>
          <a:custGeom>
            <a:avLst/>
            <a:gdLst/>
            <a:ahLst/>
            <a:cxnLst/>
            <a:rect r="r" b="b" t="t" l="l"/>
            <a:pathLst>
              <a:path h="1261123" w="1061438">
                <a:moveTo>
                  <a:pt x="0" y="0"/>
                </a:moveTo>
                <a:lnTo>
                  <a:pt x="1061438" y="0"/>
                </a:lnTo>
                <a:lnTo>
                  <a:pt x="1061438" y="1261123"/>
                </a:lnTo>
                <a:lnTo>
                  <a:pt x="0" y="1261123"/>
                </a:lnTo>
                <a:lnTo>
                  <a:pt x="0" y="0"/>
                </a:lnTo>
                <a:close/>
              </a:path>
            </a:pathLst>
          </a:custGeom>
          <a:blipFill>
            <a:blip r:embed="rId12"/>
            <a:stretch>
              <a:fillRect l="0" t="0" r="0" b="0"/>
            </a:stretch>
          </a:blipFill>
        </p:spPr>
      </p:sp>
      <p:sp>
        <p:nvSpPr>
          <p:cNvPr name="Freeform 15" id="15"/>
          <p:cNvSpPr/>
          <p:nvPr/>
        </p:nvSpPr>
        <p:spPr>
          <a:xfrm flipH="false" flipV="false" rot="0">
            <a:off x="14286018" y="1834856"/>
            <a:ext cx="580378" cy="570272"/>
          </a:xfrm>
          <a:custGeom>
            <a:avLst/>
            <a:gdLst/>
            <a:ahLst/>
            <a:cxnLst/>
            <a:rect r="r" b="b" t="t" l="l"/>
            <a:pathLst>
              <a:path h="570272" w="580378">
                <a:moveTo>
                  <a:pt x="0" y="0"/>
                </a:moveTo>
                <a:lnTo>
                  <a:pt x="580378" y="0"/>
                </a:lnTo>
                <a:lnTo>
                  <a:pt x="580378" y="570272"/>
                </a:lnTo>
                <a:lnTo>
                  <a:pt x="0" y="570272"/>
                </a:lnTo>
                <a:lnTo>
                  <a:pt x="0" y="0"/>
                </a:lnTo>
                <a:close/>
              </a:path>
            </a:pathLst>
          </a:custGeom>
          <a:blipFill>
            <a:blip r:embed="rId13"/>
            <a:stretch>
              <a:fillRect l="0" t="0" r="0" b="0"/>
            </a:stretch>
          </a:blipFill>
        </p:spPr>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110623"/>
        </a:solidFill>
      </p:bgPr>
    </p:bg>
    <p:spTree>
      <p:nvGrpSpPr>
        <p:cNvPr id="1" name=""/>
        <p:cNvGrpSpPr/>
        <p:nvPr/>
      </p:nvGrpSpPr>
      <p:grpSpPr>
        <a:xfrm>
          <a:off x="0" y="0"/>
          <a:ext cx="0" cy="0"/>
          <a:chOff x="0" y="0"/>
          <a:chExt cx="0" cy="0"/>
        </a:xfrm>
      </p:grpSpPr>
      <p:sp>
        <p:nvSpPr>
          <p:cNvPr name="Freeform 2" id="2"/>
          <p:cNvSpPr/>
          <p:nvPr/>
        </p:nvSpPr>
        <p:spPr>
          <a:xfrm flipH="false" flipV="false" rot="0">
            <a:off x="0" y="268522"/>
            <a:ext cx="18288000" cy="10018478"/>
          </a:xfrm>
          <a:custGeom>
            <a:avLst/>
            <a:gdLst/>
            <a:ahLst/>
            <a:cxnLst/>
            <a:rect r="r" b="b" t="t" l="l"/>
            <a:pathLst>
              <a:path h="10018478" w="18288000">
                <a:moveTo>
                  <a:pt x="0" y="0"/>
                </a:moveTo>
                <a:lnTo>
                  <a:pt x="18288000" y="0"/>
                </a:lnTo>
                <a:lnTo>
                  <a:pt x="18288000" y="10018478"/>
                </a:lnTo>
                <a:lnTo>
                  <a:pt x="0" y="10018478"/>
                </a:lnTo>
                <a:lnTo>
                  <a:pt x="0" y="0"/>
                </a:lnTo>
                <a:close/>
              </a:path>
            </a:pathLst>
          </a:custGeom>
          <a:blipFill>
            <a:blip r:embed="rId2">
              <a:alphaModFix amt="25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5400000">
            <a:off x="14416431" y="6906219"/>
            <a:ext cx="4467792" cy="4249987"/>
          </a:xfrm>
          <a:custGeom>
            <a:avLst/>
            <a:gdLst/>
            <a:ahLst/>
            <a:cxnLst/>
            <a:rect r="r" b="b" t="t" l="l"/>
            <a:pathLst>
              <a:path h="4249987" w="4467792">
                <a:moveTo>
                  <a:pt x="0" y="0"/>
                </a:moveTo>
                <a:lnTo>
                  <a:pt x="4467792" y="0"/>
                </a:lnTo>
                <a:lnTo>
                  <a:pt x="4467792" y="4249987"/>
                </a:lnTo>
                <a:lnTo>
                  <a:pt x="0" y="4249987"/>
                </a:lnTo>
                <a:lnTo>
                  <a:pt x="0" y="0"/>
                </a:lnTo>
                <a:close/>
              </a:path>
            </a:pathLst>
          </a:custGeom>
          <a:blipFill>
            <a:blip r:embed="rId4"/>
            <a:stretch>
              <a:fillRect l="0" t="0" r="0" b="0"/>
            </a:stretch>
          </a:blipFill>
        </p:spPr>
      </p:sp>
      <p:sp>
        <p:nvSpPr>
          <p:cNvPr name="Freeform 4" id="4"/>
          <p:cNvSpPr/>
          <p:nvPr/>
        </p:nvSpPr>
        <p:spPr>
          <a:xfrm flipH="false" flipV="false" rot="-6134898">
            <a:off x="14209243" y="-2045303"/>
            <a:ext cx="4535136" cy="5060124"/>
          </a:xfrm>
          <a:custGeom>
            <a:avLst/>
            <a:gdLst/>
            <a:ahLst/>
            <a:cxnLst/>
            <a:rect r="r" b="b" t="t" l="l"/>
            <a:pathLst>
              <a:path h="5060124" w="4535136">
                <a:moveTo>
                  <a:pt x="0" y="0"/>
                </a:moveTo>
                <a:lnTo>
                  <a:pt x="4535136" y="0"/>
                </a:lnTo>
                <a:lnTo>
                  <a:pt x="4535136" y="5060124"/>
                </a:lnTo>
                <a:lnTo>
                  <a:pt x="0" y="5060124"/>
                </a:lnTo>
                <a:lnTo>
                  <a:pt x="0" y="0"/>
                </a:lnTo>
                <a:close/>
              </a:path>
            </a:pathLst>
          </a:custGeom>
          <a:blipFill>
            <a:blip r:embed="rId5"/>
            <a:stretch>
              <a:fillRect l="0" t="0" r="0" b="0"/>
            </a:stretch>
          </a:blipFill>
        </p:spPr>
      </p:sp>
      <p:sp>
        <p:nvSpPr>
          <p:cNvPr name="Freeform 5" id="5"/>
          <p:cNvSpPr/>
          <p:nvPr/>
        </p:nvSpPr>
        <p:spPr>
          <a:xfrm flipH="false" flipV="false" rot="1079263">
            <a:off x="116092" y="-857316"/>
            <a:ext cx="4033686" cy="4179986"/>
          </a:xfrm>
          <a:custGeom>
            <a:avLst/>
            <a:gdLst/>
            <a:ahLst/>
            <a:cxnLst/>
            <a:rect r="r" b="b" t="t" l="l"/>
            <a:pathLst>
              <a:path h="4179986" w="4033686">
                <a:moveTo>
                  <a:pt x="0" y="0"/>
                </a:moveTo>
                <a:lnTo>
                  <a:pt x="4033686" y="0"/>
                </a:lnTo>
                <a:lnTo>
                  <a:pt x="4033686" y="4179985"/>
                </a:lnTo>
                <a:lnTo>
                  <a:pt x="0" y="4179985"/>
                </a:lnTo>
                <a:lnTo>
                  <a:pt x="0" y="0"/>
                </a:lnTo>
                <a:close/>
              </a:path>
            </a:pathLst>
          </a:custGeom>
          <a:blipFill>
            <a:blip r:embed="rId6"/>
            <a:stretch>
              <a:fillRect l="0" t="0" r="0" b="0"/>
            </a:stretch>
          </a:blipFill>
        </p:spPr>
      </p:sp>
      <p:sp>
        <p:nvSpPr>
          <p:cNvPr name="Freeform 6" id="6"/>
          <p:cNvSpPr/>
          <p:nvPr/>
        </p:nvSpPr>
        <p:spPr>
          <a:xfrm flipH="false" flipV="false" rot="1392916">
            <a:off x="2036320" y="7488407"/>
            <a:ext cx="1158181" cy="1295867"/>
          </a:xfrm>
          <a:custGeom>
            <a:avLst/>
            <a:gdLst/>
            <a:ahLst/>
            <a:cxnLst/>
            <a:rect r="r" b="b" t="t" l="l"/>
            <a:pathLst>
              <a:path h="1295867" w="1158181">
                <a:moveTo>
                  <a:pt x="0" y="0"/>
                </a:moveTo>
                <a:lnTo>
                  <a:pt x="1158181" y="0"/>
                </a:lnTo>
                <a:lnTo>
                  <a:pt x="1158181" y="1295867"/>
                </a:lnTo>
                <a:lnTo>
                  <a:pt x="0" y="1295867"/>
                </a:lnTo>
                <a:lnTo>
                  <a:pt x="0" y="0"/>
                </a:lnTo>
                <a:close/>
              </a:path>
            </a:pathLst>
          </a:custGeom>
          <a:blipFill>
            <a:blip r:embed="rId7"/>
            <a:stretch>
              <a:fillRect l="0" t="0" r="0" b="0"/>
            </a:stretch>
          </a:blipFill>
        </p:spPr>
      </p:sp>
      <p:sp>
        <p:nvSpPr>
          <p:cNvPr name="Freeform 7" id="7"/>
          <p:cNvSpPr/>
          <p:nvPr/>
        </p:nvSpPr>
        <p:spPr>
          <a:xfrm flipH="false" flipV="false" rot="-1600701">
            <a:off x="14525334" y="2202848"/>
            <a:ext cx="1207461" cy="1277736"/>
          </a:xfrm>
          <a:custGeom>
            <a:avLst/>
            <a:gdLst/>
            <a:ahLst/>
            <a:cxnLst/>
            <a:rect r="r" b="b" t="t" l="l"/>
            <a:pathLst>
              <a:path h="1277736" w="1207461">
                <a:moveTo>
                  <a:pt x="0" y="0"/>
                </a:moveTo>
                <a:lnTo>
                  <a:pt x="1207460" y="0"/>
                </a:lnTo>
                <a:lnTo>
                  <a:pt x="1207460" y="1277736"/>
                </a:lnTo>
                <a:lnTo>
                  <a:pt x="0" y="1277736"/>
                </a:lnTo>
                <a:lnTo>
                  <a:pt x="0" y="0"/>
                </a:lnTo>
                <a:close/>
              </a:path>
            </a:pathLst>
          </a:custGeom>
          <a:blipFill>
            <a:blip r:embed="rId8"/>
            <a:stretch>
              <a:fillRect l="0" t="0" r="0" b="0"/>
            </a:stretch>
          </a:blipFill>
        </p:spPr>
      </p:sp>
      <p:sp>
        <p:nvSpPr>
          <p:cNvPr name="Freeform 8" id="8"/>
          <p:cNvSpPr/>
          <p:nvPr/>
        </p:nvSpPr>
        <p:spPr>
          <a:xfrm flipH="false" flipV="false" rot="1558470">
            <a:off x="15141810" y="7644720"/>
            <a:ext cx="1129301" cy="1199788"/>
          </a:xfrm>
          <a:custGeom>
            <a:avLst/>
            <a:gdLst/>
            <a:ahLst/>
            <a:cxnLst/>
            <a:rect r="r" b="b" t="t" l="l"/>
            <a:pathLst>
              <a:path h="1199788" w="1129301">
                <a:moveTo>
                  <a:pt x="0" y="0"/>
                </a:moveTo>
                <a:lnTo>
                  <a:pt x="1129301" y="0"/>
                </a:lnTo>
                <a:lnTo>
                  <a:pt x="1129301" y="1199788"/>
                </a:lnTo>
                <a:lnTo>
                  <a:pt x="0" y="1199788"/>
                </a:lnTo>
                <a:lnTo>
                  <a:pt x="0" y="0"/>
                </a:lnTo>
                <a:close/>
              </a:path>
            </a:pathLst>
          </a:custGeom>
          <a:blipFill>
            <a:blip r:embed="rId9"/>
            <a:stretch>
              <a:fillRect l="0" t="0" r="0" b="0"/>
            </a:stretch>
          </a:blipFill>
        </p:spPr>
      </p:sp>
      <p:sp>
        <p:nvSpPr>
          <p:cNvPr name="Freeform 9" id="9"/>
          <p:cNvSpPr/>
          <p:nvPr/>
        </p:nvSpPr>
        <p:spPr>
          <a:xfrm flipH="false" flipV="false" rot="0">
            <a:off x="3502069" y="2096917"/>
            <a:ext cx="1112030" cy="1140544"/>
          </a:xfrm>
          <a:custGeom>
            <a:avLst/>
            <a:gdLst/>
            <a:ahLst/>
            <a:cxnLst/>
            <a:rect r="r" b="b" t="t" l="l"/>
            <a:pathLst>
              <a:path h="1140544" w="1112030">
                <a:moveTo>
                  <a:pt x="0" y="0"/>
                </a:moveTo>
                <a:lnTo>
                  <a:pt x="1112030" y="0"/>
                </a:lnTo>
                <a:lnTo>
                  <a:pt x="1112030" y="1140544"/>
                </a:lnTo>
                <a:lnTo>
                  <a:pt x="0" y="1140544"/>
                </a:lnTo>
                <a:lnTo>
                  <a:pt x="0" y="0"/>
                </a:lnTo>
                <a:close/>
              </a:path>
            </a:pathLst>
          </a:custGeom>
          <a:blipFill>
            <a:blip r:embed="rId10"/>
            <a:stretch>
              <a:fillRect l="0" t="0" r="0" b="0"/>
            </a:stretch>
          </a:blipFill>
        </p:spPr>
      </p:sp>
      <p:sp>
        <p:nvSpPr>
          <p:cNvPr name="Freeform 10" id="10"/>
          <p:cNvSpPr/>
          <p:nvPr/>
        </p:nvSpPr>
        <p:spPr>
          <a:xfrm flipH="false" flipV="false" rot="5400000">
            <a:off x="-1570908" y="7239148"/>
            <a:ext cx="4846752" cy="3653240"/>
          </a:xfrm>
          <a:custGeom>
            <a:avLst/>
            <a:gdLst/>
            <a:ahLst/>
            <a:cxnLst/>
            <a:rect r="r" b="b" t="t" l="l"/>
            <a:pathLst>
              <a:path h="3653240" w="4846752">
                <a:moveTo>
                  <a:pt x="0" y="0"/>
                </a:moveTo>
                <a:lnTo>
                  <a:pt x="4846753" y="0"/>
                </a:lnTo>
                <a:lnTo>
                  <a:pt x="4846753" y="3653240"/>
                </a:lnTo>
                <a:lnTo>
                  <a:pt x="0" y="3653240"/>
                </a:lnTo>
                <a:lnTo>
                  <a:pt x="0" y="0"/>
                </a:lnTo>
                <a:close/>
              </a:path>
            </a:pathLst>
          </a:custGeom>
          <a:blipFill>
            <a:blip r:embed="rId11"/>
            <a:stretch>
              <a:fillRect l="0" t="0" r="0" b="0"/>
            </a:stretch>
          </a:blipFill>
        </p:spPr>
      </p:sp>
      <p:sp>
        <p:nvSpPr>
          <p:cNvPr name="TextBox 11" id="11"/>
          <p:cNvSpPr txBox="true"/>
          <p:nvPr/>
        </p:nvSpPr>
        <p:spPr>
          <a:xfrm rot="0">
            <a:off x="1099390" y="4639492"/>
            <a:ext cx="16159910" cy="1314052"/>
          </a:xfrm>
          <a:prstGeom prst="rect">
            <a:avLst/>
          </a:prstGeom>
        </p:spPr>
        <p:txBody>
          <a:bodyPr anchor="t" rtlCol="false" tIns="0" lIns="0" bIns="0" rIns="0">
            <a:spAutoFit/>
          </a:bodyPr>
          <a:lstStyle/>
          <a:p>
            <a:pPr algn="ctr">
              <a:lnSpc>
                <a:spcPts val="10397"/>
              </a:lnSpc>
            </a:pPr>
            <a:r>
              <a:rPr lang="en-US" sz="8330">
                <a:solidFill>
                  <a:srgbClr val="FFFFFF"/>
                </a:solidFill>
                <a:latin typeface="Mokoto"/>
                <a:ea typeface="Mokoto"/>
                <a:cs typeface="Mokoto"/>
                <a:sym typeface="Mokoto"/>
              </a:rPr>
              <a:t>TERIMAKASIH</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DAG9i6__2m8</dc:identifier>
  <dcterms:modified xsi:type="dcterms:W3CDTF">2011-08-01T06:04:30Z</dcterms:modified>
  <cp:revision>1</cp:revision>
  <dc:title>Purple and Violet Modern Marketing Presentation</dc:title>
</cp:coreProperties>
</file>